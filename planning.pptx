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M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C69"/>
    <a:srgbClr val="42C29A"/>
    <a:srgbClr val="1C1033"/>
    <a:srgbClr val="FFFFFF"/>
    <a:srgbClr val="2D8A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e-Sophie Montenot" userId="29731ec38943cde6" providerId="LiveId" clId="{85E072DD-16EA-4C1F-8EA6-7A0A712D60E8}"/>
    <pc:docChg chg="modSld">
      <pc:chgData name="Anne-Sophie Montenot" userId="29731ec38943cde6" providerId="LiveId" clId="{85E072DD-16EA-4C1F-8EA6-7A0A712D60E8}" dt="2026-04-17T09:31:18.226" v="8" actId="20577"/>
      <pc:docMkLst>
        <pc:docMk/>
      </pc:docMkLst>
      <pc:sldChg chg="modSp mod">
        <pc:chgData name="Anne-Sophie Montenot" userId="29731ec38943cde6" providerId="LiveId" clId="{85E072DD-16EA-4C1F-8EA6-7A0A712D60E8}" dt="2026-04-17T09:31:18.226" v="8" actId="20577"/>
        <pc:sldMkLst>
          <pc:docMk/>
          <pc:sldMk cId="2907401867" sldId="262"/>
        </pc:sldMkLst>
        <pc:spChg chg="mod">
          <ac:chgData name="Anne-Sophie Montenot" userId="29731ec38943cde6" providerId="LiveId" clId="{85E072DD-16EA-4C1F-8EA6-7A0A712D60E8}" dt="2026-04-17T09:31:18.226" v="8" actId="20577"/>
          <ac:spMkLst>
            <pc:docMk/>
            <pc:sldMk cId="2907401867" sldId="262"/>
            <ac:spMk id="58" creationId="{98194152-AB02-9FFA-B5D3-FC658E12E4E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D4BC2-A6FE-385E-D1C6-48747B4BF6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F0864C-E7DD-9842-3B1D-5103685F43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230F5-4C7F-1FB8-EE8F-40591E544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21B6D-FD89-43E4-A7F7-00F93A76C683}" type="datetimeFigureOut">
              <a:rPr lang="en-MU" smtClean="0"/>
              <a:t>04/17/2026</a:t>
            </a:fld>
            <a:endParaRPr lang="en-M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50CBA-0FCA-9B37-D0D9-62CAFC1DB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0D005-1B71-89C1-DBAC-0B3EEC7D0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CABAE-41A6-4B2F-AA42-93C5C13B41C6}" type="slidenum">
              <a:rPr lang="en-MU" smtClean="0"/>
              <a:t>‹N°›</a:t>
            </a:fld>
            <a:endParaRPr lang="en-MU"/>
          </a:p>
        </p:txBody>
      </p:sp>
    </p:spTree>
    <p:extLst>
      <p:ext uri="{BB962C8B-B14F-4D97-AF65-F5344CB8AC3E}">
        <p14:creationId xmlns:p14="http://schemas.microsoft.com/office/powerpoint/2010/main" val="1693026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A7702-CFF1-CA30-6130-44CD80AF3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85A74-ED86-8279-17ED-4EAC30E65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056B4E-788A-FDF9-033B-D7ECC9220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21B6D-FD89-43E4-A7F7-00F93A76C683}" type="datetimeFigureOut">
              <a:rPr lang="en-MU" smtClean="0"/>
              <a:t>04/17/2026</a:t>
            </a:fld>
            <a:endParaRPr lang="en-M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04FB4-645F-E5E4-1852-53F471653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8EFD1-80F7-E9B7-6F77-12DB99ABE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CABAE-41A6-4B2F-AA42-93C5C13B41C6}" type="slidenum">
              <a:rPr lang="en-MU" smtClean="0"/>
              <a:t>‹N°›</a:t>
            </a:fld>
            <a:endParaRPr lang="en-MU"/>
          </a:p>
        </p:txBody>
      </p:sp>
    </p:spTree>
    <p:extLst>
      <p:ext uri="{BB962C8B-B14F-4D97-AF65-F5344CB8AC3E}">
        <p14:creationId xmlns:p14="http://schemas.microsoft.com/office/powerpoint/2010/main" val="2581392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D51A7-20AB-860E-2DAC-11025D0D0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CC5A1E-BC43-A67E-EA4C-118267DC3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2239E-7B69-D01D-7EE9-3F89054EC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21B6D-FD89-43E4-A7F7-00F93A76C683}" type="datetimeFigureOut">
              <a:rPr lang="en-MU" smtClean="0"/>
              <a:t>04/17/2026</a:t>
            </a:fld>
            <a:endParaRPr lang="en-M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3D4E9-5448-53D1-D187-534399AD9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89D42-3F9F-9538-D5EA-D9004E7BB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CABAE-41A6-4B2F-AA42-93C5C13B41C6}" type="slidenum">
              <a:rPr lang="en-MU" smtClean="0"/>
              <a:t>‹N°›</a:t>
            </a:fld>
            <a:endParaRPr lang="en-MU"/>
          </a:p>
        </p:txBody>
      </p:sp>
    </p:spTree>
    <p:extLst>
      <p:ext uri="{BB962C8B-B14F-4D97-AF65-F5344CB8AC3E}">
        <p14:creationId xmlns:p14="http://schemas.microsoft.com/office/powerpoint/2010/main" val="1326978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8A384-793C-1038-6861-280A0FE90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A1C12-F3BC-CA80-296C-92AAE6B25A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17CBF8-19AE-DBB5-2E91-0FE7E4A887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B1412-418F-574E-852F-937DD53CA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21B6D-FD89-43E4-A7F7-00F93A76C683}" type="datetimeFigureOut">
              <a:rPr lang="en-MU" smtClean="0"/>
              <a:t>04/17/2026</a:t>
            </a:fld>
            <a:endParaRPr lang="en-M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45E66-E3A2-AE38-055E-C3C830E59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0768-FC03-6D2A-6FA7-5D229183C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CABAE-41A6-4B2F-AA42-93C5C13B41C6}" type="slidenum">
              <a:rPr lang="en-MU" smtClean="0"/>
              <a:t>‹N°›</a:t>
            </a:fld>
            <a:endParaRPr lang="en-MU"/>
          </a:p>
        </p:txBody>
      </p:sp>
    </p:spTree>
    <p:extLst>
      <p:ext uri="{BB962C8B-B14F-4D97-AF65-F5344CB8AC3E}">
        <p14:creationId xmlns:p14="http://schemas.microsoft.com/office/powerpoint/2010/main" val="3437556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86E54-EDC3-30FF-844F-78D687926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84AA53-0D70-F84D-7326-1E8F268F7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411763-653E-01B7-8808-145170B222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7F7660-FBE3-AFD3-2AC3-BF7A911ECA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5628F1-956A-5A9A-2DA9-BC8CAB01F9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48199A-779E-27A8-BBCE-506EAF508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21B6D-FD89-43E4-A7F7-00F93A76C683}" type="datetimeFigureOut">
              <a:rPr lang="en-MU" smtClean="0"/>
              <a:t>04/17/2026</a:t>
            </a:fld>
            <a:endParaRPr lang="en-M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A367D-4318-CD07-7592-56CDDB53B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A0C224-F8D4-AB34-3D45-9204EC1F4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CABAE-41A6-4B2F-AA42-93C5C13B41C6}" type="slidenum">
              <a:rPr lang="en-MU" smtClean="0"/>
              <a:t>‹N°›</a:t>
            </a:fld>
            <a:endParaRPr lang="en-MU"/>
          </a:p>
        </p:txBody>
      </p:sp>
    </p:spTree>
    <p:extLst>
      <p:ext uri="{BB962C8B-B14F-4D97-AF65-F5344CB8AC3E}">
        <p14:creationId xmlns:p14="http://schemas.microsoft.com/office/powerpoint/2010/main" val="3052389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CABE1-B63C-B9A7-1C36-C18EAE471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147D44-E8ED-AA0B-6657-DC7DB4059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21B6D-FD89-43E4-A7F7-00F93A76C683}" type="datetimeFigureOut">
              <a:rPr lang="en-MU" smtClean="0"/>
              <a:t>04/17/2026</a:t>
            </a:fld>
            <a:endParaRPr lang="en-M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D75B26-08D9-5425-E351-288EAA9C2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7A01FA-2568-51EF-A13A-626576E68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CABAE-41A6-4B2F-AA42-93C5C13B41C6}" type="slidenum">
              <a:rPr lang="en-MU" smtClean="0"/>
              <a:t>‹N°›</a:t>
            </a:fld>
            <a:endParaRPr lang="en-MU"/>
          </a:p>
        </p:txBody>
      </p:sp>
    </p:spTree>
    <p:extLst>
      <p:ext uri="{BB962C8B-B14F-4D97-AF65-F5344CB8AC3E}">
        <p14:creationId xmlns:p14="http://schemas.microsoft.com/office/powerpoint/2010/main" val="536273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32F802-94C7-7ABE-BEBA-5C89EC5F3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21B6D-FD89-43E4-A7F7-00F93A76C683}" type="datetimeFigureOut">
              <a:rPr lang="en-MU" smtClean="0"/>
              <a:t>04/17/2026</a:t>
            </a:fld>
            <a:endParaRPr lang="en-M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37931B-6422-091E-546F-4AA2CD70B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AC8BF-0D07-096C-7FA3-41751B27E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CABAE-41A6-4B2F-AA42-93C5C13B41C6}" type="slidenum">
              <a:rPr lang="en-MU" smtClean="0"/>
              <a:t>‹N°›</a:t>
            </a:fld>
            <a:endParaRPr lang="en-MU"/>
          </a:p>
        </p:txBody>
      </p:sp>
    </p:spTree>
    <p:extLst>
      <p:ext uri="{BB962C8B-B14F-4D97-AF65-F5344CB8AC3E}">
        <p14:creationId xmlns:p14="http://schemas.microsoft.com/office/powerpoint/2010/main" val="389680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C05AC-6076-3678-49A2-E37EE02AE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A14C4-792B-922D-3057-B183C9820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C3BBC-1F21-3C79-DA03-938FD04640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9D4DBF-6B97-61F8-7AB1-DD40FBA61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21B6D-FD89-43E4-A7F7-00F93A76C683}" type="datetimeFigureOut">
              <a:rPr lang="en-MU" smtClean="0"/>
              <a:t>04/17/2026</a:t>
            </a:fld>
            <a:endParaRPr lang="en-M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ACB02C-C688-6E3B-EFD0-C82BBDDD9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BAE7E-3C62-7A16-F339-79EB30C0D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CABAE-41A6-4B2F-AA42-93C5C13B41C6}" type="slidenum">
              <a:rPr lang="en-MU" smtClean="0"/>
              <a:t>‹N°›</a:t>
            </a:fld>
            <a:endParaRPr lang="en-MU"/>
          </a:p>
        </p:txBody>
      </p:sp>
    </p:spTree>
    <p:extLst>
      <p:ext uri="{BB962C8B-B14F-4D97-AF65-F5344CB8AC3E}">
        <p14:creationId xmlns:p14="http://schemas.microsoft.com/office/powerpoint/2010/main" val="2703518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D16AF-46D0-3B30-D1E5-C663FECA2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6A362D-5EF9-3E9D-A0CF-CB7DB4FEB4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3E78B3-9F1D-E2CE-B59B-4BC09B0007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C98ADF-1E41-6473-ED7E-50A31B1C2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21B6D-FD89-43E4-A7F7-00F93A76C683}" type="datetimeFigureOut">
              <a:rPr lang="en-MU" smtClean="0"/>
              <a:t>04/17/2026</a:t>
            </a:fld>
            <a:endParaRPr lang="en-M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A5CEC6-3775-5E1A-46AF-9FC7E6893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CB8834-207E-2BE2-27AA-E7BE30135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CABAE-41A6-4B2F-AA42-93C5C13B41C6}" type="slidenum">
              <a:rPr lang="en-MU" smtClean="0"/>
              <a:t>‹N°›</a:t>
            </a:fld>
            <a:endParaRPr lang="en-MU"/>
          </a:p>
        </p:txBody>
      </p:sp>
    </p:spTree>
    <p:extLst>
      <p:ext uri="{BB962C8B-B14F-4D97-AF65-F5344CB8AC3E}">
        <p14:creationId xmlns:p14="http://schemas.microsoft.com/office/powerpoint/2010/main" val="446208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5274C-BA06-49D0-8659-3F75ECE00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B10B5E-75C7-26AD-63C6-79337B3965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FF8304-DE21-F42C-BDC1-DA5E87167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21B6D-FD89-43E4-A7F7-00F93A76C683}" type="datetimeFigureOut">
              <a:rPr lang="en-MU" smtClean="0"/>
              <a:t>04/17/2026</a:t>
            </a:fld>
            <a:endParaRPr lang="en-M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BFD33-DC2F-5561-C41E-43046481E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143E60-2E4B-C804-068D-9F6109324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CABAE-41A6-4B2F-AA42-93C5C13B41C6}" type="slidenum">
              <a:rPr lang="en-MU" smtClean="0"/>
              <a:t>‹N°›</a:t>
            </a:fld>
            <a:endParaRPr lang="en-MU"/>
          </a:p>
        </p:txBody>
      </p:sp>
    </p:spTree>
    <p:extLst>
      <p:ext uri="{BB962C8B-B14F-4D97-AF65-F5344CB8AC3E}">
        <p14:creationId xmlns:p14="http://schemas.microsoft.com/office/powerpoint/2010/main" val="4263212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5C2B93-4686-E5EE-6164-103E74C9D1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E55B34-661B-E679-DB4A-39D52E04B2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F5534-FEDC-3166-5B00-E7ADE6A08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21B6D-FD89-43E4-A7F7-00F93A76C683}" type="datetimeFigureOut">
              <a:rPr lang="en-MU" smtClean="0"/>
              <a:t>04/17/2026</a:t>
            </a:fld>
            <a:endParaRPr lang="en-M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2E2B1-5928-E7DD-66B7-635826F3F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71051-2EF0-BCA9-FD73-FCBE7ACCC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CABAE-41A6-4B2F-AA42-93C5C13B41C6}" type="slidenum">
              <a:rPr lang="en-MU" smtClean="0"/>
              <a:t>‹N°›</a:t>
            </a:fld>
            <a:endParaRPr lang="en-MU"/>
          </a:p>
        </p:txBody>
      </p:sp>
    </p:spTree>
    <p:extLst>
      <p:ext uri="{BB962C8B-B14F-4D97-AF65-F5344CB8AC3E}">
        <p14:creationId xmlns:p14="http://schemas.microsoft.com/office/powerpoint/2010/main" val="391049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A50B1B-AE34-AE8A-89AC-18A7FA586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960F6F-CC1F-20CB-0F66-97507F3B01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FC96D-0F1F-F551-3208-B5E4E85F9C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821B6D-FD89-43E4-A7F7-00F93A76C683}" type="datetimeFigureOut">
              <a:rPr lang="en-MU" smtClean="0"/>
              <a:t>04/17/2026</a:t>
            </a:fld>
            <a:endParaRPr lang="en-M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686D1-AFB5-2C42-F021-E17061765B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C6399-302D-7931-1787-B4709C73FB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5CABAE-41A6-4B2F-AA42-93C5C13B41C6}" type="slidenum">
              <a:rPr lang="en-MU" smtClean="0"/>
              <a:t>‹N°›</a:t>
            </a:fld>
            <a:endParaRPr lang="en-MU"/>
          </a:p>
        </p:txBody>
      </p:sp>
    </p:spTree>
    <p:extLst>
      <p:ext uri="{BB962C8B-B14F-4D97-AF65-F5344CB8AC3E}">
        <p14:creationId xmlns:p14="http://schemas.microsoft.com/office/powerpoint/2010/main" val="3705084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4AECC-DAA4-28AE-3699-78C1C031E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5BA1B47-C890-7397-5704-51BCCE2D587A}"/>
              </a:ext>
            </a:extLst>
          </p:cNvPr>
          <p:cNvSpPr/>
          <p:nvPr/>
        </p:nvSpPr>
        <p:spPr>
          <a:xfrm>
            <a:off x="-1438" y="-31041"/>
            <a:ext cx="12192000" cy="3460041"/>
          </a:xfrm>
          <a:prstGeom prst="rect">
            <a:avLst/>
          </a:prstGeom>
          <a:solidFill>
            <a:srgbClr val="1C1033"/>
          </a:solidFill>
          <a:ln>
            <a:solidFill>
              <a:srgbClr val="1C10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4437F9-A360-2C2B-030D-F64DE2CC040B}"/>
              </a:ext>
            </a:extLst>
          </p:cNvPr>
          <p:cNvSpPr txBox="1"/>
          <p:nvPr/>
        </p:nvSpPr>
        <p:spPr>
          <a:xfrm>
            <a:off x="4290323" y="2721114"/>
            <a:ext cx="360847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000" b="1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Skill</a:t>
            </a:r>
            <a:r>
              <a:rPr lang="fr-FR" sz="4000" b="1" i="0" dirty="0">
                <a:solidFill>
                  <a:srgbClr val="FF8C69"/>
                </a:solidFill>
                <a:effectLst/>
                <a:latin typeface="Segoe UI" panose="020B0502040204020203" pitchFamily="34" charset="0"/>
              </a:rPr>
              <a:t>Hub V2</a:t>
            </a:r>
            <a:endParaRPr lang="en-MU" sz="4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AFAA77-7FA4-70A6-684C-95CBBF5DB18C}"/>
              </a:ext>
            </a:extLst>
          </p:cNvPr>
          <p:cNvSpPr txBox="1"/>
          <p:nvPr/>
        </p:nvSpPr>
        <p:spPr>
          <a:xfrm>
            <a:off x="2462869" y="3429000"/>
            <a:ext cx="726338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200" b="1" dirty="0">
                <a:solidFill>
                  <a:srgbClr val="42C29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Plan de travail</a:t>
            </a:r>
            <a:endParaRPr lang="fr-FR" sz="3200" dirty="0">
              <a:solidFill>
                <a:srgbClr val="42C29A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fr-FR" sz="2400" b="1" dirty="0">
                <a:solidFill>
                  <a:srgbClr val="1C103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Équipe :</a:t>
            </a:r>
            <a:r>
              <a:rPr lang="fr-FR" sz="2400" dirty="0">
                <a:solidFill>
                  <a:srgbClr val="1C103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Anne-Sophie · El-</a:t>
            </a:r>
            <a:r>
              <a:rPr lang="fr-FR" sz="2400" dirty="0" err="1">
                <a:solidFill>
                  <a:srgbClr val="1C103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Fayed</a:t>
            </a:r>
            <a:r>
              <a:rPr lang="fr-FR" sz="2400" dirty="0">
                <a:solidFill>
                  <a:srgbClr val="1C103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· Thouaïbat </a:t>
            </a:r>
          </a:p>
          <a:p>
            <a:pPr algn="ctr"/>
            <a:r>
              <a:rPr lang="fr-FR" sz="2400" b="1" dirty="0">
                <a:solidFill>
                  <a:srgbClr val="1C103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Durée :</a:t>
            </a:r>
            <a:r>
              <a:rPr lang="fr-FR" sz="2400" dirty="0">
                <a:solidFill>
                  <a:srgbClr val="1C103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4 jours</a:t>
            </a:r>
            <a:endParaRPr lang="en-MU" sz="2400" dirty="0">
              <a:solidFill>
                <a:srgbClr val="1C103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2254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11B9C-5194-6D17-F855-4F4AED53A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DA499CB-5B9E-E286-5FB4-0D3926486E9D}"/>
              </a:ext>
            </a:extLst>
          </p:cNvPr>
          <p:cNvSpPr/>
          <p:nvPr/>
        </p:nvSpPr>
        <p:spPr>
          <a:xfrm>
            <a:off x="-1438" y="-31041"/>
            <a:ext cx="12192000" cy="612000"/>
          </a:xfrm>
          <a:prstGeom prst="rect">
            <a:avLst/>
          </a:prstGeom>
          <a:solidFill>
            <a:srgbClr val="1C1033"/>
          </a:solidFill>
          <a:ln>
            <a:solidFill>
              <a:srgbClr val="1C10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47CDE8-32D6-9259-D85E-70F8FEF0D85C}"/>
              </a:ext>
            </a:extLst>
          </p:cNvPr>
          <p:cNvSpPr txBox="1"/>
          <p:nvPr/>
        </p:nvSpPr>
        <p:spPr>
          <a:xfrm>
            <a:off x="215661" y="90293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Skill</a:t>
            </a:r>
            <a:r>
              <a:rPr lang="fr-FR" b="1" i="0" dirty="0">
                <a:solidFill>
                  <a:srgbClr val="FF8C69"/>
                </a:solidFill>
                <a:effectLst/>
                <a:latin typeface="Segoe UI" panose="020B0502040204020203" pitchFamily="34" charset="0"/>
              </a:rPr>
              <a:t>Hub V2</a:t>
            </a:r>
            <a:endParaRPr lang="en-M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2F9F82-47C6-F2FD-C909-34D853B7057A}"/>
              </a:ext>
            </a:extLst>
          </p:cNvPr>
          <p:cNvSpPr txBox="1"/>
          <p:nvPr/>
        </p:nvSpPr>
        <p:spPr>
          <a:xfrm>
            <a:off x="3262941" y="44126"/>
            <a:ext cx="56632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b="1" dirty="0">
                <a:solidFill>
                  <a:srgbClr val="FFFFFF"/>
                </a:solidFill>
                <a:latin typeface="Segoe UI" panose="020B0502040204020203" pitchFamily="34" charset="0"/>
              </a:rPr>
              <a:t>Jour 1 – </a:t>
            </a:r>
            <a:r>
              <a:rPr lang="fr-FR" sz="2400" b="1" dirty="0">
                <a:solidFill>
                  <a:srgbClr val="42C29A"/>
                </a:solidFill>
                <a:latin typeface="Segoe UI" panose="020B0502040204020203" pitchFamily="34" charset="0"/>
              </a:rPr>
              <a:t>Setup et intégration </a:t>
            </a:r>
            <a:r>
              <a:rPr lang="fr-FR" sz="2400" b="1" dirty="0" err="1">
                <a:solidFill>
                  <a:srgbClr val="42C29A"/>
                </a:solidFill>
                <a:latin typeface="Segoe UI" panose="020B0502040204020203" pitchFamily="34" charset="0"/>
              </a:rPr>
              <a:t>auth</a:t>
            </a:r>
            <a:endParaRPr lang="en-MU" sz="2400" dirty="0">
              <a:solidFill>
                <a:srgbClr val="42C29A"/>
              </a:solidFill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0BE7827-206F-CEFA-709C-DF8DDAE3834D}"/>
              </a:ext>
            </a:extLst>
          </p:cNvPr>
          <p:cNvGrpSpPr/>
          <p:nvPr/>
        </p:nvGrpSpPr>
        <p:grpSpPr>
          <a:xfrm>
            <a:off x="215657" y="1396817"/>
            <a:ext cx="11757801" cy="1826391"/>
            <a:chOff x="215661" y="1313624"/>
            <a:chExt cx="11757801" cy="1826391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500C9A03-F32C-C12B-A641-23528CF6A418}"/>
                </a:ext>
              </a:extLst>
            </p:cNvPr>
            <p:cNvGrpSpPr/>
            <p:nvPr/>
          </p:nvGrpSpPr>
          <p:grpSpPr>
            <a:xfrm>
              <a:off x="215661" y="1319842"/>
              <a:ext cx="3774057" cy="1820173"/>
              <a:chOff x="215661" y="1319842"/>
              <a:chExt cx="3774057" cy="1820173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520F5C9F-A497-0E28-210A-0F785BE5794E}"/>
                  </a:ext>
                </a:extLst>
              </p:cNvPr>
              <p:cNvSpPr/>
              <p:nvPr/>
            </p:nvSpPr>
            <p:spPr>
              <a:xfrm>
                <a:off x="215661" y="1319842"/>
                <a:ext cx="3774057" cy="1820173"/>
              </a:xfrm>
              <a:prstGeom prst="roundRect">
                <a:avLst/>
              </a:prstGeom>
              <a:solidFill>
                <a:srgbClr val="1C1033"/>
              </a:solidFill>
              <a:ln>
                <a:solidFill>
                  <a:srgbClr val="1C10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U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96A2C0A-2EEB-652C-0944-54BAF74AC4C5}"/>
                  </a:ext>
                </a:extLst>
              </p:cNvPr>
              <p:cNvSpPr txBox="1"/>
              <p:nvPr/>
            </p:nvSpPr>
            <p:spPr>
              <a:xfrm>
                <a:off x="333195" y="1493523"/>
                <a:ext cx="353898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b="1" dirty="0">
                    <a:solidFill>
                      <a:srgbClr val="42C29A"/>
                    </a:solidFill>
                    <a:latin typeface="Segoe UI" panose="020B0502040204020203" pitchFamily="34" charset="0"/>
                  </a:rPr>
                  <a:t>Tâche 1 – Vérifier le dépôt GitHub</a:t>
                </a:r>
                <a:endParaRPr lang="en-MU" sz="1600" dirty="0">
                  <a:solidFill>
                    <a:srgbClr val="42C29A"/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D5807EE-9F56-D227-CCED-26188885A65E}"/>
                  </a:ext>
                </a:extLst>
              </p:cNvPr>
              <p:cNvSpPr txBox="1"/>
              <p:nvPr/>
            </p:nvSpPr>
            <p:spPr>
              <a:xfrm>
                <a:off x="274966" y="1909131"/>
                <a:ext cx="3538987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Vérifier que les 3 dossiers sont présents, que la branche dev existe, que CONTRIBUTING.md est complet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A9BE46D-727D-AD28-7A9C-550B454E28A9}"/>
                  </a:ext>
                </a:extLst>
              </p:cNvPr>
              <p:cNvSpPr txBox="1"/>
              <p:nvPr/>
            </p:nvSpPr>
            <p:spPr>
              <a:xfrm>
                <a:off x="634043" y="2693850"/>
                <a:ext cx="141041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400" b="1" dirty="0">
                    <a:solidFill>
                      <a:srgbClr val="FF8C69"/>
                    </a:solidFill>
                    <a:latin typeface="Segoe UI" panose="020B0502040204020203" pitchFamily="34" charset="0"/>
                  </a:rPr>
                  <a:t>Anne-Sophie</a:t>
                </a:r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CAF2C13B-DDE9-404D-7CC9-920CA02E18F5}"/>
                </a:ext>
              </a:extLst>
            </p:cNvPr>
            <p:cNvGrpSpPr/>
            <p:nvPr/>
          </p:nvGrpSpPr>
          <p:grpSpPr>
            <a:xfrm>
              <a:off x="4207533" y="1319842"/>
              <a:ext cx="3774057" cy="1820173"/>
              <a:chOff x="215661" y="1319842"/>
              <a:chExt cx="3774057" cy="1820173"/>
            </a:xfrm>
          </p:grpSpPr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6DDD68D4-46B9-357C-ECFC-BF16843556D3}"/>
                  </a:ext>
                </a:extLst>
              </p:cNvPr>
              <p:cNvSpPr/>
              <p:nvPr/>
            </p:nvSpPr>
            <p:spPr>
              <a:xfrm>
                <a:off x="215661" y="1319842"/>
                <a:ext cx="3774057" cy="1820173"/>
              </a:xfrm>
              <a:prstGeom prst="roundRect">
                <a:avLst/>
              </a:prstGeom>
              <a:solidFill>
                <a:srgbClr val="1C1033"/>
              </a:solidFill>
              <a:ln>
                <a:solidFill>
                  <a:srgbClr val="1C10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U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BDCF9DB-145D-5A30-CE97-89115CC2A6A3}"/>
                  </a:ext>
                </a:extLst>
              </p:cNvPr>
              <p:cNvSpPr txBox="1"/>
              <p:nvPr/>
            </p:nvSpPr>
            <p:spPr>
              <a:xfrm>
                <a:off x="333195" y="1493523"/>
                <a:ext cx="353898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b="1" dirty="0">
                    <a:solidFill>
                      <a:srgbClr val="42C29A"/>
                    </a:solidFill>
                    <a:latin typeface="Segoe UI" panose="020B0502040204020203" pitchFamily="34" charset="0"/>
                  </a:rPr>
                  <a:t>Tâche 2 – Cloner et lancer </a:t>
                </a:r>
                <a:r>
                  <a:rPr lang="fr-FR" sz="1600" b="1" dirty="0" err="1">
                    <a:solidFill>
                      <a:srgbClr val="42C29A"/>
                    </a:solidFill>
                    <a:latin typeface="Segoe UI" panose="020B0502040204020203" pitchFamily="34" charset="0"/>
                  </a:rPr>
                  <a:t>Laravel</a:t>
                </a:r>
                <a:endParaRPr lang="en-MU" sz="1600" dirty="0">
                  <a:solidFill>
                    <a:srgbClr val="42C29A"/>
                  </a:solidFill>
                </a:endParaRP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1238AED-3532-43CA-7C9D-B37474D24EA9}"/>
                  </a:ext>
                </a:extLst>
              </p:cNvPr>
              <p:cNvSpPr txBox="1"/>
              <p:nvPr/>
            </p:nvSpPr>
            <p:spPr>
              <a:xfrm>
                <a:off x="274966" y="1992877"/>
                <a:ext cx="35389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Cloner le dépôt et vérifier que </a:t>
                </a:r>
                <a:r>
                  <a:rPr lang="fr-FR" sz="1200" b="1" dirty="0" err="1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Laravel</a:t>
                </a: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 tourne sur le port 8000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5940021-51CA-6BD8-6D79-FE1566A3755C}"/>
                  </a:ext>
                </a:extLst>
              </p:cNvPr>
              <p:cNvSpPr txBox="1"/>
              <p:nvPr/>
            </p:nvSpPr>
            <p:spPr>
              <a:xfrm>
                <a:off x="634043" y="2693850"/>
                <a:ext cx="141041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400" b="1" dirty="0">
                    <a:solidFill>
                      <a:srgbClr val="FF8C69"/>
                    </a:solidFill>
                    <a:latin typeface="Segoe UI" panose="020B0502040204020203" pitchFamily="34" charset="0"/>
                  </a:rPr>
                  <a:t>El-</a:t>
                </a:r>
                <a:r>
                  <a:rPr lang="fr-FR" sz="1400" b="1" dirty="0" err="1">
                    <a:solidFill>
                      <a:srgbClr val="FF8C69"/>
                    </a:solidFill>
                    <a:latin typeface="Segoe UI" panose="020B0502040204020203" pitchFamily="34" charset="0"/>
                  </a:rPr>
                  <a:t>Fayed</a:t>
                </a:r>
                <a:endParaRPr lang="fr-FR" sz="1400" b="1" dirty="0">
                  <a:solidFill>
                    <a:srgbClr val="FF8C69"/>
                  </a:solidFill>
                  <a:latin typeface="Segoe UI" panose="020B0502040204020203" pitchFamily="34" charset="0"/>
                </a:endParaRPr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92266665-71B2-3B65-BE0E-CCE31F3BAE46}"/>
                </a:ext>
              </a:extLst>
            </p:cNvPr>
            <p:cNvGrpSpPr/>
            <p:nvPr/>
          </p:nvGrpSpPr>
          <p:grpSpPr>
            <a:xfrm>
              <a:off x="8199405" y="1313624"/>
              <a:ext cx="3774057" cy="1820173"/>
              <a:chOff x="215661" y="1319842"/>
              <a:chExt cx="3774057" cy="1820173"/>
            </a:xfrm>
          </p:grpSpPr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2F817CF5-916C-2F08-D218-E104352935DF}"/>
                  </a:ext>
                </a:extLst>
              </p:cNvPr>
              <p:cNvSpPr/>
              <p:nvPr/>
            </p:nvSpPr>
            <p:spPr>
              <a:xfrm>
                <a:off x="215661" y="1319842"/>
                <a:ext cx="3774057" cy="1820173"/>
              </a:xfrm>
              <a:prstGeom prst="roundRect">
                <a:avLst/>
              </a:prstGeom>
              <a:solidFill>
                <a:srgbClr val="1C1033"/>
              </a:solidFill>
              <a:ln>
                <a:solidFill>
                  <a:srgbClr val="1C10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U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92BD922-8316-C008-9417-6F80D5CB3294}"/>
                  </a:ext>
                </a:extLst>
              </p:cNvPr>
              <p:cNvSpPr txBox="1"/>
              <p:nvPr/>
            </p:nvSpPr>
            <p:spPr>
              <a:xfrm>
                <a:off x="333195" y="1493523"/>
                <a:ext cx="353898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b="1" dirty="0">
                    <a:solidFill>
                      <a:srgbClr val="42C29A"/>
                    </a:solidFill>
                    <a:latin typeface="Segoe UI" panose="020B0502040204020203" pitchFamily="34" charset="0"/>
                  </a:rPr>
                  <a:t>Tâche 3 – Cloner et lancer </a:t>
                </a:r>
                <a:r>
                  <a:rPr lang="fr-FR" sz="1600" b="1" dirty="0" err="1">
                    <a:solidFill>
                      <a:srgbClr val="42C29A"/>
                    </a:solidFill>
                    <a:latin typeface="Segoe UI" panose="020B0502040204020203" pitchFamily="34" charset="0"/>
                  </a:rPr>
                  <a:t>React</a:t>
                </a:r>
                <a:endParaRPr lang="en-MU" sz="1600" dirty="0">
                  <a:solidFill>
                    <a:srgbClr val="42C29A"/>
                  </a:solidFill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C5CEA24-1CFF-3B64-2995-DCD0530D8E22}"/>
                  </a:ext>
                </a:extLst>
              </p:cNvPr>
              <p:cNvSpPr txBox="1"/>
              <p:nvPr/>
            </p:nvSpPr>
            <p:spPr>
              <a:xfrm>
                <a:off x="274967" y="2007681"/>
                <a:ext cx="35389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Cloner le dépôt et vérifier que </a:t>
                </a:r>
                <a:r>
                  <a:rPr lang="fr-FR" sz="1200" b="1" dirty="0" err="1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React</a:t>
                </a: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 tourne sur le port 5173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EA175BB4-B6CF-078A-5A3E-5F6DD891FBC7}"/>
                  </a:ext>
                </a:extLst>
              </p:cNvPr>
              <p:cNvSpPr txBox="1"/>
              <p:nvPr/>
            </p:nvSpPr>
            <p:spPr>
              <a:xfrm>
                <a:off x="634043" y="2693850"/>
                <a:ext cx="141041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400" b="1" dirty="0" err="1">
                    <a:solidFill>
                      <a:srgbClr val="FF8C69"/>
                    </a:solidFill>
                    <a:latin typeface="Segoe UI" panose="020B0502040204020203" pitchFamily="34" charset="0"/>
                  </a:rPr>
                  <a:t>Thouaibat</a:t>
                </a:r>
                <a:endParaRPr lang="fr-FR" sz="1400" b="1" dirty="0">
                  <a:solidFill>
                    <a:srgbClr val="FF8C69"/>
                  </a:solidFill>
                  <a:latin typeface="Segoe UI" panose="020B0502040204020203" pitchFamily="34" charset="0"/>
                </a:endParaRPr>
              </a:p>
            </p:txBody>
          </p:sp>
        </p:grp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20435A3-522C-A17A-909E-37AEB35FFE46}"/>
              </a:ext>
            </a:extLst>
          </p:cNvPr>
          <p:cNvGrpSpPr/>
          <p:nvPr/>
        </p:nvGrpSpPr>
        <p:grpSpPr>
          <a:xfrm>
            <a:off x="215657" y="3628574"/>
            <a:ext cx="11757801" cy="1826391"/>
            <a:chOff x="215661" y="1313624"/>
            <a:chExt cx="11757801" cy="1826391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02DF17F0-C621-39F0-9F4B-0D095E334102}"/>
                </a:ext>
              </a:extLst>
            </p:cNvPr>
            <p:cNvGrpSpPr/>
            <p:nvPr/>
          </p:nvGrpSpPr>
          <p:grpSpPr>
            <a:xfrm>
              <a:off x="215661" y="1319842"/>
              <a:ext cx="3774057" cy="1820173"/>
              <a:chOff x="215661" y="1319842"/>
              <a:chExt cx="3774057" cy="1820173"/>
            </a:xfrm>
          </p:grpSpPr>
          <p:sp>
            <p:nvSpPr>
              <p:cNvPr id="72" name="Rectangle: Rounded Corners 71">
                <a:extLst>
                  <a:ext uri="{FF2B5EF4-FFF2-40B4-BE49-F238E27FC236}">
                    <a16:creationId xmlns:a16="http://schemas.microsoft.com/office/drawing/2014/main" id="{A813EC61-77B6-9549-0CC4-986D0EE7ED7B}"/>
                  </a:ext>
                </a:extLst>
              </p:cNvPr>
              <p:cNvSpPr/>
              <p:nvPr/>
            </p:nvSpPr>
            <p:spPr>
              <a:xfrm>
                <a:off x="215661" y="1319842"/>
                <a:ext cx="3774057" cy="1820173"/>
              </a:xfrm>
              <a:prstGeom prst="roundRect">
                <a:avLst/>
              </a:prstGeom>
              <a:solidFill>
                <a:srgbClr val="1C1033"/>
              </a:solidFill>
              <a:ln>
                <a:solidFill>
                  <a:srgbClr val="1C10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U"/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5663CCC8-2E31-A932-7E89-0E7C45FCE915}"/>
                  </a:ext>
                </a:extLst>
              </p:cNvPr>
              <p:cNvSpPr txBox="1"/>
              <p:nvPr/>
            </p:nvSpPr>
            <p:spPr>
              <a:xfrm>
                <a:off x="333195" y="1493523"/>
                <a:ext cx="353898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b="1" dirty="0">
                    <a:solidFill>
                      <a:srgbClr val="42C29A"/>
                    </a:solidFill>
                    <a:latin typeface="Segoe UI" panose="020B0502040204020203" pitchFamily="34" charset="0"/>
                  </a:rPr>
                  <a:t>Tâche 4 – Spring Boot / Postman</a:t>
                </a:r>
                <a:endParaRPr lang="en-MU" sz="1600" dirty="0">
                  <a:solidFill>
                    <a:srgbClr val="42C29A"/>
                  </a:solidFill>
                </a:endParaRP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0A23A1C3-9C55-9661-FAAD-0AC3C57E72ED}"/>
                  </a:ext>
                </a:extLst>
              </p:cNvPr>
              <p:cNvSpPr txBox="1"/>
              <p:nvPr/>
            </p:nvSpPr>
            <p:spPr>
              <a:xfrm>
                <a:off x="274966" y="1900544"/>
                <a:ext cx="3538987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Modifier et tester /</a:t>
                </a:r>
                <a:r>
                  <a:rPr lang="fr-FR" sz="1200" b="1" dirty="0" err="1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register</a:t>
                </a: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, /login, /</a:t>
                </a:r>
                <a:r>
                  <a:rPr lang="fr-FR" sz="1200" b="1" dirty="0" err="1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validate</a:t>
                </a: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 → vérifier que /</a:t>
                </a:r>
                <a:r>
                  <a:rPr lang="fr-FR" sz="1200" b="1" dirty="0" err="1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validate</a:t>
                </a: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 retourne email + </a:t>
                </a:r>
                <a:r>
                  <a:rPr lang="fr-FR" sz="1200" b="1" dirty="0" err="1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role</a:t>
                </a: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 + </a:t>
                </a:r>
                <a:r>
                  <a:rPr lang="fr-FR" sz="1200" b="1" dirty="0" err="1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userId</a:t>
                </a:r>
                <a:endParaRPr lang="fr-FR" sz="1200" b="1" dirty="0">
                  <a:solidFill>
                    <a:srgbClr val="FFFFFF"/>
                  </a:solidFill>
                  <a:latin typeface="Segoe UI" panose="020B0502040204020203" pitchFamily="34" charset="0"/>
                </a:endParaRP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596E0F35-91BC-6463-66B6-C309D9338E6F}"/>
                  </a:ext>
                </a:extLst>
              </p:cNvPr>
              <p:cNvSpPr txBox="1"/>
              <p:nvPr/>
            </p:nvSpPr>
            <p:spPr>
              <a:xfrm>
                <a:off x="634043" y="2693850"/>
                <a:ext cx="141041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400" b="1" dirty="0">
                    <a:solidFill>
                      <a:srgbClr val="FF8C69"/>
                    </a:solidFill>
                    <a:latin typeface="Segoe UI" panose="020B0502040204020203" pitchFamily="34" charset="0"/>
                  </a:rPr>
                  <a:t>Anne-Sophie</a:t>
                </a:r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31933BE8-3B15-FC10-5068-9332E261370F}"/>
                </a:ext>
              </a:extLst>
            </p:cNvPr>
            <p:cNvGrpSpPr/>
            <p:nvPr/>
          </p:nvGrpSpPr>
          <p:grpSpPr>
            <a:xfrm>
              <a:off x="4207533" y="1319842"/>
              <a:ext cx="3774057" cy="1820173"/>
              <a:chOff x="215661" y="1319842"/>
              <a:chExt cx="3774057" cy="1820173"/>
            </a:xfrm>
          </p:grpSpPr>
          <p:sp>
            <p:nvSpPr>
              <p:cNvPr id="68" name="Rectangle: Rounded Corners 67">
                <a:extLst>
                  <a:ext uri="{FF2B5EF4-FFF2-40B4-BE49-F238E27FC236}">
                    <a16:creationId xmlns:a16="http://schemas.microsoft.com/office/drawing/2014/main" id="{0FDD0D17-7E8C-7B9C-12C7-A4FFF55BFE2B}"/>
                  </a:ext>
                </a:extLst>
              </p:cNvPr>
              <p:cNvSpPr/>
              <p:nvPr/>
            </p:nvSpPr>
            <p:spPr>
              <a:xfrm>
                <a:off x="215661" y="1319842"/>
                <a:ext cx="3774057" cy="1820173"/>
              </a:xfrm>
              <a:prstGeom prst="roundRect">
                <a:avLst/>
              </a:prstGeom>
              <a:solidFill>
                <a:srgbClr val="1C1033"/>
              </a:solidFill>
              <a:ln>
                <a:solidFill>
                  <a:srgbClr val="1C10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U"/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F7221460-7E31-27B9-41EE-3B77116BB121}"/>
                  </a:ext>
                </a:extLst>
              </p:cNvPr>
              <p:cNvSpPr txBox="1"/>
              <p:nvPr/>
            </p:nvSpPr>
            <p:spPr>
              <a:xfrm>
                <a:off x="333195" y="1493523"/>
                <a:ext cx="353898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b="1" dirty="0">
                    <a:solidFill>
                      <a:srgbClr val="42C29A"/>
                    </a:solidFill>
                    <a:latin typeface="Segoe UI" panose="020B0502040204020203" pitchFamily="34" charset="0"/>
                  </a:rPr>
                  <a:t>Tâche 5 – Adapter </a:t>
                </a:r>
                <a:r>
                  <a:rPr lang="fr-FR" sz="1600" b="1" dirty="0" err="1">
                    <a:solidFill>
                      <a:srgbClr val="42C29A"/>
                    </a:solidFill>
                    <a:latin typeface="Segoe UI" panose="020B0502040204020203" pitchFamily="34" charset="0"/>
                  </a:rPr>
                  <a:t>Laravel</a:t>
                </a:r>
                <a:r>
                  <a:rPr lang="fr-FR" sz="1600" b="1" dirty="0">
                    <a:solidFill>
                      <a:srgbClr val="42C29A"/>
                    </a:solidFill>
                    <a:latin typeface="Segoe UI" panose="020B0502040204020203" pitchFamily="34" charset="0"/>
                  </a:rPr>
                  <a:t> (routes)</a:t>
                </a:r>
                <a:endParaRPr lang="en-MU" sz="1600" dirty="0">
                  <a:solidFill>
                    <a:srgbClr val="42C29A"/>
                  </a:solidFill>
                </a:endParaRP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C7E65D6-5676-EA08-F3ED-63DADB9AC174}"/>
                  </a:ext>
                </a:extLst>
              </p:cNvPr>
              <p:cNvSpPr txBox="1"/>
              <p:nvPr/>
            </p:nvSpPr>
            <p:spPr>
              <a:xfrm>
                <a:off x="274965" y="1992876"/>
                <a:ext cx="35389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Supprimer /</a:t>
                </a:r>
                <a:r>
                  <a:rPr lang="fr-FR" sz="1200" b="1" dirty="0" err="1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register</a:t>
                </a: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 et /login dans </a:t>
                </a:r>
                <a:r>
                  <a:rPr lang="fr-FR" sz="1200" b="1" dirty="0" err="1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api.php</a:t>
                </a: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, remplacer </a:t>
                </a:r>
                <a:r>
                  <a:rPr lang="fr-FR" sz="1200" b="1" dirty="0" err="1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auth:api</a:t>
                </a: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 par </a:t>
                </a:r>
                <a:r>
                  <a:rPr lang="fr-FR" sz="1200" b="1" dirty="0" err="1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jwt.verify</a:t>
                </a:r>
                <a:endParaRPr lang="fr-FR" sz="1200" b="1" dirty="0">
                  <a:solidFill>
                    <a:srgbClr val="FFFFFF"/>
                  </a:solidFill>
                  <a:latin typeface="Segoe UI" panose="020B0502040204020203" pitchFamily="34" charset="0"/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DFFC96FF-E7DF-7F9C-3AE4-55EFB08EE7FA}"/>
                  </a:ext>
                </a:extLst>
              </p:cNvPr>
              <p:cNvSpPr txBox="1"/>
              <p:nvPr/>
            </p:nvSpPr>
            <p:spPr>
              <a:xfrm>
                <a:off x="634043" y="2693850"/>
                <a:ext cx="141041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400" b="1" dirty="0">
                    <a:solidFill>
                      <a:srgbClr val="FF8C69"/>
                    </a:solidFill>
                    <a:latin typeface="Segoe UI" panose="020B0502040204020203" pitchFamily="34" charset="0"/>
                  </a:rPr>
                  <a:t>El-</a:t>
                </a:r>
                <a:r>
                  <a:rPr lang="fr-FR" sz="1400" b="1" dirty="0" err="1">
                    <a:solidFill>
                      <a:srgbClr val="FF8C69"/>
                    </a:solidFill>
                    <a:latin typeface="Segoe UI" panose="020B0502040204020203" pitchFamily="34" charset="0"/>
                  </a:rPr>
                  <a:t>Fayed</a:t>
                </a:r>
                <a:endParaRPr lang="fr-FR" sz="1400" b="1" dirty="0">
                  <a:solidFill>
                    <a:srgbClr val="FF8C69"/>
                  </a:solidFill>
                  <a:latin typeface="Segoe UI" panose="020B0502040204020203" pitchFamily="34" charset="0"/>
                </a:endParaRPr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B2711D90-9DB7-2DB4-1079-E0C4DAABFDDB}"/>
                </a:ext>
              </a:extLst>
            </p:cNvPr>
            <p:cNvGrpSpPr/>
            <p:nvPr/>
          </p:nvGrpSpPr>
          <p:grpSpPr>
            <a:xfrm>
              <a:off x="8199405" y="1313624"/>
              <a:ext cx="3774057" cy="1820173"/>
              <a:chOff x="215661" y="1319842"/>
              <a:chExt cx="3774057" cy="1820173"/>
            </a:xfrm>
          </p:grpSpPr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A3CA89C5-6326-CD13-DEEF-139DA8DB2C48}"/>
                  </a:ext>
                </a:extLst>
              </p:cNvPr>
              <p:cNvSpPr/>
              <p:nvPr/>
            </p:nvSpPr>
            <p:spPr>
              <a:xfrm>
                <a:off x="215661" y="1319842"/>
                <a:ext cx="3774057" cy="1820173"/>
              </a:xfrm>
              <a:prstGeom prst="roundRect">
                <a:avLst/>
              </a:prstGeom>
              <a:solidFill>
                <a:srgbClr val="1C1033"/>
              </a:solidFill>
              <a:ln>
                <a:solidFill>
                  <a:srgbClr val="1C10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U"/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D9600F0B-A1A7-F336-B2C6-4F72913A3A10}"/>
                  </a:ext>
                </a:extLst>
              </p:cNvPr>
              <p:cNvSpPr txBox="1"/>
              <p:nvPr/>
            </p:nvSpPr>
            <p:spPr>
              <a:xfrm>
                <a:off x="215661" y="1493523"/>
                <a:ext cx="377405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b="1" dirty="0">
                    <a:solidFill>
                      <a:srgbClr val="42C29A"/>
                    </a:solidFill>
                    <a:latin typeface="Segoe UI" panose="020B0502040204020203" pitchFamily="34" charset="0"/>
                  </a:rPr>
                  <a:t>Tâche 6 - Créer </a:t>
                </a:r>
                <a:r>
                  <a:rPr lang="fr-FR" sz="1600" b="1" dirty="0" err="1">
                    <a:solidFill>
                      <a:srgbClr val="42C29A"/>
                    </a:solidFill>
                    <a:latin typeface="Segoe UI" panose="020B0502040204020203" pitchFamily="34" charset="0"/>
                  </a:rPr>
                  <a:t>JwtVerifyMiddleware</a:t>
                </a:r>
                <a:endParaRPr lang="en-MU" sz="1600" dirty="0">
                  <a:solidFill>
                    <a:srgbClr val="42C29A"/>
                  </a:solidFill>
                </a:endParaRP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0809EA5F-D714-94B2-F9EF-DBFD139479BE}"/>
                  </a:ext>
                </a:extLst>
              </p:cNvPr>
              <p:cNvSpPr txBox="1"/>
              <p:nvPr/>
            </p:nvSpPr>
            <p:spPr>
              <a:xfrm>
                <a:off x="274967" y="1906762"/>
                <a:ext cx="3538987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Créer le middleware qui appelle Spring Boot sur /</a:t>
                </a:r>
                <a:r>
                  <a:rPr lang="fr-FR" sz="1200" b="1" dirty="0" err="1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validate</a:t>
                </a: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 pour vérifier chaque </a:t>
                </a:r>
                <a:r>
                  <a:rPr lang="fr-FR" sz="1200" b="1" dirty="0" err="1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token</a:t>
                </a:r>
                <a:endParaRPr lang="fr-FR" sz="1200" b="1" dirty="0">
                  <a:solidFill>
                    <a:srgbClr val="FFFFFF"/>
                  </a:solidFill>
                  <a:latin typeface="Segoe UI" panose="020B0502040204020203" pitchFamily="34" charset="0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429D4D18-F631-7946-E115-6261E64A5527}"/>
                  </a:ext>
                </a:extLst>
              </p:cNvPr>
              <p:cNvSpPr txBox="1"/>
              <p:nvPr/>
            </p:nvSpPr>
            <p:spPr>
              <a:xfrm>
                <a:off x="634043" y="2693850"/>
                <a:ext cx="141041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400" b="1" dirty="0">
                    <a:solidFill>
                      <a:srgbClr val="FF8C69"/>
                    </a:solidFill>
                    <a:latin typeface="Segoe UI" panose="020B0502040204020203" pitchFamily="34" charset="0"/>
                  </a:rPr>
                  <a:t>El-</a:t>
                </a:r>
                <a:r>
                  <a:rPr lang="fr-FR" sz="1400" b="1" dirty="0" err="1">
                    <a:solidFill>
                      <a:srgbClr val="FF8C69"/>
                    </a:solidFill>
                    <a:latin typeface="Segoe UI" panose="020B0502040204020203" pitchFamily="34" charset="0"/>
                  </a:rPr>
                  <a:t>Fayed</a:t>
                </a:r>
                <a:endParaRPr lang="fr-FR" sz="1400" b="1" dirty="0">
                  <a:solidFill>
                    <a:srgbClr val="FF8C69"/>
                  </a:solidFill>
                  <a:latin typeface="Segoe UI" panose="020B0502040204020203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152130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05D85-2C4A-9463-C325-4663EDDB3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8E9205-8AEC-41C6-8008-39AB2FFEB6D3}"/>
              </a:ext>
            </a:extLst>
          </p:cNvPr>
          <p:cNvSpPr/>
          <p:nvPr/>
        </p:nvSpPr>
        <p:spPr>
          <a:xfrm>
            <a:off x="-1438" y="-31041"/>
            <a:ext cx="12192000" cy="612000"/>
          </a:xfrm>
          <a:prstGeom prst="rect">
            <a:avLst/>
          </a:prstGeom>
          <a:solidFill>
            <a:srgbClr val="1C1033"/>
          </a:solidFill>
          <a:ln>
            <a:solidFill>
              <a:srgbClr val="1C10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CC1876-AE0F-54EB-16F3-3D098B7F3293}"/>
              </a:ext>
            </a:extLst>
          </p:cNvPr>
          <p:cNvSpPr txBox="1"/>
          <p:nvPr/>
        </p:nvSpPr>
        <p:spPr>
          <a:xfrm>
            <a:off x="215661" y="90293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Skill</a:t>
            </a:r>
            <a:r>
              <a:rPr lang="fr-FR" b="1" i="0" dirty="0">
                <a:solidFill>
                  <a:srgbClr val="FF8C69"/>
                </a:solidFill>
                <a:effectLst/>
                <a:latin typeface="Segoe UI" panose="020B0502040204020203" pitchFamily="34" charset="0"/>
              </a:rPr>
              <a:t>Hub V2</a:t>
            </a:r>
            <a:endParaRPr lang="en-M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30F1BB-EF15-6900-44FE-1411BCFBBA17}"/>
              </a:ext>
            </a:extLst>
          </p:cNvPr>
          <p:cNvSpPr txBox="1"/>
          <p:nvPr/>
        </p:nvSpPr>
        <p:spPr>
          <a:xfrm>
            <a:off x="3262941" y="44126"/>
            <a:ext cx="56632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b="1" dirty="0">
                <a:solidFill>
                  <a:srgbClr val="FFFFFF"/>
                </a:solidFill>
                <a:latin typeface="Segoe UI" panose="020B0502040204020203" pitchFamily="34" charset="0"/>
              </a:rPr>
              <a:t>Jour 1 – </a:t>
            </a:r>
            <a:r>
              <a:rPr lang="fr-FR" sz="2400" b="1" dirty="0">
                <a:solidFill>
                  <a:srgbClr val="42C29A"/>
                </a:solidFill>
                <a:latin typeface="Segoe UI" panose="020B0502040204020203" pitchFamily="34" charset="0"/>
              </a:rPr>
              <a:t>Setup et intégration </a:t>
            </a:r>
            <a:r>
              <a:rPr lang="fr-FR" sz="2400" b="1" dirty="0" err="1">
                <a:solidFill>
                  <a:srgbClr val="42C29A"/>
                </a:solidFill>
                <a:latin typeface="Segoe UI" panose="020B0502040204020203" pitchFamily="34" charset="0"/>
              </a:rPr>
              <a:t>auth</a:t>
            </a:r>
            <a:endParaRPr lang="en-MU" sz="2400" dirty="0">
              <a:solidFill>
                <a:srgbClr val="42C29A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14487F8-6823-6A8B-3CDC-52CE077D85D1}"/>
              </a:ext>
            </a:extLst>
          </p:cNvPr>
          <p:cNvGrpSpPr/>
          <p:nvPr/>
        </p:nvGrpSpPr>
        <p:grpSpPr>
          <a:xfrm>
            <a:off x="215657" y="1396817"/>
            <a:ext cx="11757801" cy="1826391"/>
            <a:chOff x="215661" y="1313624"/>
            <a:chExt cx="11757801" cy="182639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54FAFDE-2C80-90E3-AFD1-5BB3BDCDEA9E}"/>
                </a:ext>
              </a:extLst>
            </p:cNvPr>
            <p:cNvGrpSpPr/>
            <p:nvPr/>
          </p:nvGrpSpPr>
          <p:grpSpPr>
            <a:xfrm>
              <a:off x="215661" y="1319842"/>
              <a:ext cx="3774057" cy="1820173"/>
              <a:chOff x="215661" y="1319842"/>
              <a:chExt cx="3774057" cy="1820173"/>
            </a:xfrm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F09E614A-DF77-6F14-617C-F20C7849E24A}"/>
                  </a:ext>
                </a:extLst>
              </p:cNvPr>
              <p:cNvSpPr/>
              <p:nvPr/>
            </p:nvSpPr>
            <p:spPr>
              <a:xfrm>
                <a:off x="215661" y="1319842"/>
                <a:ext cx="3774057" cy="1820173"/>
              </a:xfrm>
              <a:prstGeom prst="roundRect">
                <a:avLst/>
              </a:prstGeom>
              <a:solidFill>
                <a:srgbClr val="1C1033"/>
              </a:solidFill>
              <a:ln>
                <a:solidFill>
                  <a:srgbClr val="1C10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U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D9FF717-CE11-F6DA-A0CB-47F442EC785C}"/>
                  </a:ext>
                </a:extLst>
              </p:cNvPr>
              <p:cNvSpPr txBox="1"/>
              <p:nvPr/>
            </p:nvSpPr>
            <p:spPr>
              <a:xfrm>
                <a:off x="215661" y="1493523"/>
                <a:ext cx="3774057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b="1" dirty="0">
                    <a:solidFill>
                      <a:srgbClr val="42C29A"/>
                    </a:solidFill>
                    <a:latin typeface="Segoe UI" panose="020B0502040204020203" pitchFamily="34" charset="0"/>
                  </a:rPr>
                  <a:t>Tâche 7 – Enregistrer le middleware et modifier </a:t>
                </a:r>
                <a:r>
                  <a:rPr lang="fr-FR" sz="1600" b="1" dirty="0" err="1">
                    <a:solidFill>
                      <a:srgbClr val="42C29A"/>
                    </a:solidFill>
                    <a:latin typeface="Segoe UI" panose="020B0502040204020203" pitchFamily="34" charset="0"/>
                  </a:rPr>
                  <a:t>CheckRole</a:t>
                </a:r>
                <a:endParaRPr lang="en-MU" sz="1600" dirty="0">
                  <a:solidFill>
                    <a:srgbClr val="42C29A"/>
                  </a:solidFill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52648A1-B7F2-5C7A-462E-0C177A98E225}"/>
                  </a:ext>
                </a:extLst>
              </p:cNvPr>
              <p:cNvSpPr txBox="1"/>
              <p:nvPr/>
            </p:nvSpPr>
            <p:spPr>
              <a:xfrm>
                <a:off x="274965" y="2051703"/>
                <a:ext cx="3538987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Enregistrer </a:t>
                </a:r>
                <a:r>
                  <a:rPr lang="fr-FR" sz="1200" b="1" dirty="0" err="1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jwt.verify</a:t>
                </a: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 dans </a:t>
                </a:r>
                <a:r>
                  <a:rPr lang="fr-FR" sz="1200" b="1" dirty="0" err="1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bootstrap</a:t>
                </a: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/</a:t>
                </a:r>
                <a:r>
                  <a:rPr lang="fr-FR" sz="1200" b="1" dirty="0" err="1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app.php</a:t>
                </a: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, modifier </a:t>
                </a:r>
                <a:r>
                  <a:rPr lang="fr-FR" sz="1200" b="1" dirty="0" err="1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CheckRole.php</a:t>
                </a:r>
                <a:endParaRPr lang="fr-FR" sz="1200" b="1" dirty="0">
                  <a:solidFill>
                    <a:srgbClr val="FFFFFF"/>
                  </a:solidFill>
                  <a:latin typeface="Segoe UI" panose="020B0502040204020203" pitchFamily="34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DDE77DF-ADCC-18EE-7C36-01247A836B87}"/>
                  </a:ext>
                </a:extLst>
              </p:cNvPr>
              <p:cNvSpPr txBox="1"/>
              <p:nvPr/>
            </p:nvSpPr>
            <p:spPr>
              <a:xfrm>
                <a:off x="634043" y="2693850"/>
                <a:ext cx="141041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400" b="1" dirty="0">
                    <a:solidFill>
                      <a:srgbClr val="FF8C69"/>
                    </a:solidFill>
                    <a:latin typeface="Segoe UI" panose="020B0502040204020203" pitchFamily="34" charset="0"/>
                  </a:rPr>
                  <a:t>El-</a:t>
                </a:r>
                <a:r>
                  <a:rPr lang="fr-FR" sz="1400" b="1" dirty="0" err="1">
                    <a:solidFill>
                      <a:srgbClr val="FF8C69"/>
                    </a:solidFill>
                    <a:latin typeface="Segoe UI" panose="020B0502040204020203" pitchFamily="34" charset="0"/>
                  </a:rPr>
                  <a:t>Fayed</a:t>
                </a:r>
                <a:endParaRPr lang="fr-FR" sz="1400" b="1" dirty="0">
                  <a:solidFill>
                    <a:srgbClr val="FF8C69"/>
                  </a:solidFill>
                  <a:latin typeface="Segoe UI" panose="020B0502040204020203" pitchFamily="34" charset="0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10C8346-D567-F432-D42D-6D0AF6B8BE9E}"/>
                </a:ext>
              </a:extLst>
            </p:cNvPr>
            <p:cNvGrpSpPr/>
            <p:nvPr/>
          </p:nvGrpSpPr>
          <p:grpSpPr>
            <a:xfrm>
              <a:off x="4207533" y="1319842"/>
              <a:ext cx="3774057" cy="1820173"/>
              <a:chOff x="215661" y="1319842"/>
              <a:chExt cx="3774057" cy="1820173"/>
            </a:xfrm>
          </p:grpSpPr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1C2D9791-BA99-25BE-A949-36073DB985B9}"/>
                  </a:ext>
                </a:extLst>
              </p:cNvPr>
              <p:cNvSpPr/>
              <p:nvPr/>
            </p:nvSpPr>
            <p:spPr>
              <a:xfrm>
                <a:off x="215661" y="1319842"/>
                <a:ext cx="3774057" cy="1820173"/>
              </a:xfrm>
              <a:prstGeom prst="roundRect">
                <a:avLst/>
              </a:prstGeom>
              <a:solidFill>
                <a:srgbClr val="1C1033"/>
              </a:solidFill>
              <a:ln>
                <a:solidFill>
                  <a:srgbClr val="1C10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U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B781567-BD6C-CDC0-C368-36428279F506}"/>
                  </a:ext>
                </a:extLst>
              </p:cNvPr>
              <p:cNvSpPr txBox="1"/>
              <p:nvPr/>
            </p:nvSpPr>
            <p:spPr>
              <a:xfrm>
                <a:off x="333195" y="1493523"/>
                <a:ext cx="353898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b="1" dirty="0">
                    <a:solidFill>
                      <a:srgbClr val="42C29A"/>
                    </a:solidFill>
                    <a:latin typeface="Segoe UI" panose="020B0502040204020203" pitchFamily="34" charset="0"/>
                  </a:rPr>
                  <a:t>Tâche 8 – Créer authApi.js</a:t>
                </a:r>
                <a:endParaRPr lang="en-MU" sz="1600" dirty="0">
                  <a:solidFill>
                    <a:srgbClr val="42C29A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DF23E8A-34AF-1FFE-2524-8C9FD11F51C5}"/>
                  </a:ext>
                </a:extLst>
              </p:cNvPr>
              <p:cNvSpPr txBox="1"/>
              <p:nvPr/>
            </p:nvSpPr>
            <p:spPr>
              <a:xfrm>
                <a:off x="274966" y="1992877"/>
                <a:ext cx="35389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Créer src/api/authApi.js qui pointe vers Spring Boot port 8080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43650B1-DECB-F613-EC4F-E2AEAC56950E}"/>
                  </a:ext>
                </a:extLst>
              </p:cNvPr>
              <p:cNvSpPr txBox="1"/>
              <p:nvPr/>
            </p:nvSpPr>
            <p:spPr>
              <a:xfrm>
                <a:off x="634043" y="2693850"/>
                <a:ext cx="141041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400" b="1" dirty="0" err="1">
                    <a:solidFill>
                      <a:srgbClr val="FF8C69"/>
                    </a:solidFill>
                    <a:latin typeface="Segoe UI" panose="020B0502040204020203" pitchFamily="34" charset="0"/>
                  </a:rPr>
                  <a:t>Thouaibat</a:t>
                </a:r>
                <a:endParaRPr lang="fr-FR" sz="1400" b="1" dirty="0">
                  <a:solidFill>
                    <a:srgbClr val="FF8C69"/>
                  </a:solidFill>
                  <a:latin typeface="Segoe UI" panose="020B0502040204020203" pitchFamily="34" charset="0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2EA2746-D1BF-53FA-82E5-26A125A559C7}"/>
                </a:ext>
              </a:extLst>
            </p:cNvPr>
            <p:cNvGrpSpPr/>
            <p:nvPr/>
          </p:nvGrpSpPr>
          <p:grpSpPr>
            <a:xfrm>
              <a:off x="8199405" y="1313624"/>
              <a:ext cx="3774057" cy="1820173"/>
              <a:chOff x="215661" y="1319842"/>
              <a:chExt cx="3774057" cy="1820173"/>
            </a:xfrm>
          </p:grpSpPr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328D0CC4-ACF8-6F03-C10B-93DDF97B9DCE}"/>
                  </a:ext>
                </a:extLst>
              </p:cNvPr>
              <p:cNvSpPr/>
              <p:nvPr/>
            </p:nvSpPr>
            <p:spPr>
              <a:xfrm>
                <a:off x="215661" y="1319842"/>
                <a:ext cx="3774057" cy="1820173"/>
              </a:xfrm>
              <a:prstGeom prst="roundRect">
                <a:avLst/>
              </a:prstGeom>
              <a:solidFill>
                <a:srgbClr val="1C1033"/>
              </a:solidFill>
              <a:ln>
                <a:solidFill>
                  <a:srgbClr val="1C10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U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E7340F1-AFD4-9A5B-BD09-6E0BAFEDF836}"/>
                  </a:ext>
                </a:extLst>
              </p:cNvPr>
              <p:cNvSpPr txBox="1"/>
              <p:nvPr/>
            </p:nvSpPr>
            <p:spPr>
              <a:xfrm>
                <a:off x="333195" y="1493523"/>
                <a:ext cx="353898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b="1" dirty="0">
                    <a:solidFill>
                      <a:srgbClr val="42C29A"/>
                    </a:solidFill>
                    <a:latin typeface="Segoe UI" panose="020B0502040204020203" pitchFamily="34" charset="0"/>
                  </a:rPr>
                  <a:t>Tâche 9 – Modifier </a:t>
                </a:r>
                <a:r>
                  <a:rPr lang="fr-FR" sz="1600" b="1" dirty="0" err="1">
                    <a:solidFill>
                      <a:srgbClr val="42C29A"/>
                    </a:solidFill>
                    <a:latin typeface="Segoe UI" panose="020B0502040204020203" pitchFamily="34" charset="0"/>
                  </a:rPr>
                  <a:t>AuthContext.jsx</a:t>
                </a:r>
                <a:endParaRPr lang="en-MU" sz="1600" dirty="0">
                  <a:solidFill>
                    <a:srgbClr val="42C29A"/>
                  </a:solidFill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ED5A189-5914-B683-03E3-16F56300017A}"/>
                  </a:ext>
                </a:extLst>
              </p:cNvPr>
              <p:cNvSpPr txBox="1"/>
              <p:nvPr/>
            </p:nvSpPr>
            <p:spPr>
              <a:xfrm>
                <a:off x="274967" y="2007681"/>
                <a:ext cx="35389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Modifier login() et </a:t>
                </a:r>
                <a:r>
                  <a:rPr lang="fr-FR" sz="1200" b="1" dirty="0" err="1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register</a:t>
                </a: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() pour appeler Spring Boot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A826DFE-4879-6505-641A-4AD570F55399}"/>
                  </a:ext>
                </a:extLst>
              </p:cNvPr>
              <p:cNvSpPr txBox="1"/>
              <p:nvPr/>
            </p:nvSpPr>
            <p:spPr>
              <a:xfrm>
                <a:off x="634043" y="2693850"/>
                <a:ext cx="141041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400" b="1" dirty="0" err="1">
                    <a:solidFill>
                      <a:srgbClr val="FF8C69"/>
                    </a:solidFill>
                    <a:latin typeface="Segoe UI" panose="020B0502040204020203" pitchFamily="34" charset="0"/>
                  </a:rPr>
                  <a:t>Thouaibat</a:t>
                </a:r>
                <a:endParaRPr lang="fr-FR" sz="1400" b="1" dirty="0">
                  <a:solidFill>
                    <a:srgbClr val="FF8C69"/>
                  </a:solidFill>
                  <a:latin typeface="Segoe UI" panose="020B0502040204020203" pitchFamily="34" charset="0"/>
                </a:endParaRP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AF2B66C-00B8-8A6B-E552-F7E614488B15}"/>
              </a:ext>
            </a:extLst>
          </p:cNvPr>
          <p:cNvGrpSpPr/>
          <p:nvPr/>
        </p:nvGrpSpPr>
        <p:grpSpPr>
          <a:xfrm>
            <a:off x="157427" y="3628574"/>
            <a:ext cx="11816031" cy="1826391"/>
            <a:chOff x="157431" y="1313624"/>
            <a:chExt cx="11816031" cy="1826391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780CA64-8321-FE3A-168F-77E4C1C3722B}"/>
                </a:ext>
              </a:extLst>
            </p:cNvPr>
            <p:cNvGrpSpPr/>
            <p:nvPr/>
          </p:nvGrpSpPr>
          <p:grpSpPr>
            <a:xfrm>
              <a:off x="157431" y="1319842"/>
              <a:ext cx="3832287" cy="1820173"/>
              <a:chOff x="157431" y="1319842"/>
              <a:chExt cx="3832287" cy="1820173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A984E065-C44C-73DE-35AB-EB6873750699}"/>
                  </a:ext>
                </a:extLst>
              </p:cNvPr>
              <p:cNvSpPr/>
              <p:nvPr/>
            </p:nvSpPr>
            <p:spPr>
              <a:xfrm>
                <a:off x="215661" y="1319842"/>
                <a:ext cx="3774057" cy="1820173"/>
              </a:xfrm>
              <a:prstGeom prst="roundRect">
                <a:avLst/>
              </a:prstGeom>
              <a:solidFill>
                <a:srgbClr val="1C1033"/>
              </a:solidFill>
              <a:ln>
                <a:solidFill>
                  <a:srgbClr val="1C10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U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4CEA53B-3886-A653-987F-C1E7E74457E6}"/>
                  </a:ext>
                </a:extLst>
              </p:cNvPr>
              <p:cNvSpPr txBox="1"/>
              <p:nvPr/>
            </p:nvSpPr>
            <p:spPr>
              <a:xfrm>
                <a:off x="157431" y="1493523"/>
                <a:ext cx="3714751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b="1" dirty="0">
                    <a:solidFill>
                      <a:srgbClr val="42C29A"/>
                    </a:solidFill>
                    <a:latin typeface="Segoe UI" panose="020B0502040204020203" pitchFamily="34" charset="0"/>
                  </a:rPr>
                  <a:t>Tâche 10 – Modifier </a:t>
                </a:r>
                <a:r>
                  <a:rPr lang="fr-FR" sz="1600" b="1" dirty="0" err="1">
                    <a:solidFill>
                      <a:srgbClr val="42C29A"/>
                    </a:solidFill>
                    <a:latin typeface="Segoe UI" panose="020B0502040204020203" pitchFamily="34" charset="0"/>
                  </a:rPr>
                  <a:t>RegisterModal.jsx</a:t>
                </a:r>
                <a:endParaRPr lang="en-MU" sz="1600" dirty="0">
                  <a:solidFill>
                    <a:srgbClr val="42C29A"/>
                  </a:solidFill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0935E53-3330-395A-5C9C-0698BB0B50F8}"/>
                  </a:ext>
                </a:extLst>
              </p:cNvPr>
              <p:cNvSpPr txBox="1"/>
              <p:nvPr/>
            </p:nvSpPr>
            <p:spPr>
              <a:xfrm>
                <a:off x="274429" y="2041301"/>
                <a:ext cx="365652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Modifier et tester /</a:t>
                </a:r>
                <a:r>
                  <a:rPr lang="fr-FR" sz="1200" b="1" dirty="0" err="1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register</a:t>
                </a: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, /login, /</a:t>
                </a:r>
                <a:r>
                  <a:rPr lang="fr-FR" sz="1200" b="1" dirty="0" err="1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validate</a:t>
                </a: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 → vérifier que /</a:t>
                </a:r>
                <a:r>
                  <a:rPr lang="fr-FR" sz="1200" b="1" dirty="0" err="1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validate</a:t>
                </a: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 retourne email + </a:t>
                </a:r>
                <a:r>
                  <a:rPr lang="fr-FR" sz="1200" b="1" dirty="0" err="1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role</a:t>
                </a: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 + </a:t>
                </a:r>
                <a:r>
                  <a:rPr lang="fr-FR" sz="1200" b="1" dirty="0" err="1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userId</a:t>
                </a:r>
                <a:endParaRPr lang="fr-FR" sz="1200" b="1" dirty="0">
                  <a:solidFill>
                    <a:srgbClr val="FFFFFF"/>
                  </a:solidFill>
                  <a:latin typeface="Segoe UI" panose="020B0502040204020203" pitchFamily="34" charset="0"/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52009BE-A3AB-AAE7-1D22-A1B9F701E14E}"/>
                  </a:ext>
                </a:extLst>
              </p:cNvPr>
              <p:cNvSpPr txBox="1"/>
              <p:nvPr/>
            </p:nvSpPr>
            <p:spPr>
              <a:xfrm>
                <a:off x="634043" y="2693850"/>
                <a:ext cx="141041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400" b="1" dirty="0" err="1">
                    <a:solidFill>
                      <a:srgbClr val="FF8C69"/>
                    </a:solidFill>
                    <a:latin typeface="Segoe UI" panose="020B0502040204020203" pitchFamily="34" charset="0"/>
                  </a:rPr>
                  <a:t>Thouaibat</a:t>
                </a:r>
                <a:endParaRPr lang="fr-FR" sz="1400" b="1" dirty="0">
                  <a:solidFill>
                    <a:srgbClr val="FF8C69"/>
                  </a:solidFill>
                  <a:latin typeface="Segoe UI" panose="020B0502040204020203" pitchFamily="34" charset="0"/>
                </a:endParaRP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E0DFDD32-8B2D-71D8-76A0-1FE54AF69351}"/>
                </a:ext>
              </a:extLst>
            </p:cNvPr>
            <p:cNvGrpSpPr/>
            <p:nvPr/>
          </p:nvGrpSpPr>
          <p:grpSpPr>
            <a:xfrm>
              <a:off x="4207533" y="1319842"/>
              <a:ext cx="3774057" cy="1820173"/>
              <a:chOff x="215661" y="1319842"/>
              <a:chExt cx="3774057" cy="1820173"/>
            </a:xfrm>
          </p:grpSpPr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B76E60C6-AD29-46D5-AFEE-1D305BDE5E83}"/>
                  </a:ext>
                </a:extLst>
              </p:cNvPr>
              <p:cNvSpPr/>
              <p:nvPr/>
            </p:nvSpPr>
            <p:spPr>
              <a:xfrm>
                <a:off x="215661" y="1319842"/>
                <a:ext cx="3774057" cy="1820173"/>
              </a:xfrm>
              <a:prstGeom prst="roundRect">
                <a:avLst/>
              </a:prstGeom>
              <a:solidFill>
                <a:srgbClr val="1C1033"/>
              </a:solidFill>
              <a:ln>
                <a:solidFill>
                  <a:srgbClr val="1C10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U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ED558A8-A2ED-4072-4C7F-D737D3012ADB}"/>
                  </a:ext>
                </a:extLst>
              </p:cNvPr>
              <p:cNvSpPr txBox="1"/>
              <p:nvPr/>
            </p:nvSpPr>
            <p:spPr>
              <a:xfrm>
                <a:off x="333195" y="1493523"/>
                <a:ext cx="353898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b="1" dirty="0">
                    <a:solidFill>
                      <a:srgbClr val="42C29A"/>
                    </a:solidFill>
                    <a:latin typeface="Segoe UI" panose="020B0502040204020203" pitchFamily="34" charset="0"/>
                  </a:rPr>
                  <a:t>Tâche 11 – Tester le flux complet</a:t>
                </a:r>
                <a:endParaRPr lang="en-MU" sz="1600" dirty="0">
                  <a:solidFill>
                    <a:srgbClr val="42C29A"/>
                  </a:solidFill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6A001F7-2A2F-EE7C-798A-ED10289B27BF}"/>
                  </a:ext>
                </a:extLst>
              </p:cNvPr>
              <p:cNvSpPr txBox="1"/>
              <p:nvPr/>
            </p:nvSpPr>
            <p:spPr>
              <a:xfrm>
                <a:off x="274965" y="1992876"/>
                <a:ext cx="35389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Tester dans le navigateur : inscription → connexion → redirection </a:t>
                </a:r>
                <a:r>
                  <a:rPr lang="fr-FR" sz="1200" b="1" dirty="0" err="1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dashboard</a:t>
                </a:r>
                <a:endParaRPr lang="fr-FR" sz="1200" b="1" dirty="0">
                  <a:solidFill>
                    <a:srgbClr val="FFFFFF"/>
                  </a:solidFill>
                  <a:latin typeface="Segoe UI" panose="020B0502040204020203" pitchFamily="34" charset="0"/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9C70462-347D-A772-04B7-A169FD008C37}"/>
                  </a:ext>
                </a:extLst>
              </p:cNvPr>
              <p:cNvSpPr txBox="1"/>
              <p:nvPr/>
            </p:nvSpPr>
            <p:spPr>
              <a:xfrm>
                <a:off x="634044" y="2693850"/>
                <a:ext cx="240461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400" b="1" dirty="0" err="1">
                    <a:solidFill>
                      <a:srgbClr val="FF8C69"/>
                    </a:solidFill>
                    <a:latin typeface="Segoe UI" panose="020B0502040204020203" pitchFamily="34" charset="0"/>
                  </a:rPr>
                  <a:t>Thouaibat</a:t>
                </a:r>
                <a:r>
                  <a:rPr lang="fr-FR" sz="1400" b="1" dirty="0">
                    <a:solidFill>
                      <a:srgbClr val="FF8C69"/>
                    </a:solidFill>
                    <a:latin typeface="Segoe UI" panose="020B0502040204020203" pitchFamily="34" charset="0"/>
                  </a:rPr>
                  <a:t> + Anne-Sophie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78C505EF-31EF-357A-7DA0-995EFD40C6D0}"/>
                </a:ext>
              </a:extLst>
            </p:cNvPr>
            <p:cNvGrpSpPr/>
            <p:nvPr/>
          </p:nvGrpSpPr>
          <p:grpSpPr>
            <a:xfrm>
              <a:off x="8199405" y="1313624"/>
              <a:ext cx="3774057" cy="1820173"/>
              <a:chOff x="215661" y="1319842"/>
              <a:chExt cx="3774057" cy="1820173"/>
            </a:xfrm>
          </p:grpSpPr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20C1A7C1-4282-4484-E1B2-D25D7F88BFD9}"/>
                  </a:ext>
                </a:extLst>
              </p:cNvPr>
              <p:cNvSpPr/>
              <p:nvPr/>
            </p:nvSpPr>
            <p:spPr>
              <a:xfrm>
                <a:off x="215661" y="1319842"/>
                <a:ext cx="3774057" cy="1820173"/>
              </a:xfrm>
              <a:prstGeom prst="roundRect">
                <a:avLst/>
              </a:prstGeom>
              <a:solidFill>
                <a:srgbClr val="1C1033"/>
              </a:solidFill>
              <a:ln>
                <a:solidFill>
                  <a:srgbClr val="1C10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U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C756A79-3D6C-E43B-51C2-D35D7F8064CD}"/>
                  </a:ext>
                </a:extLst>
              </p:cNvPr>
              <p:cNvSpPr txBox="1"/>
              <p:nvPr/>
            </p:nvSpPr>
            <p:spPr>
              <a:xfrm>
                <a:off x="215661" y="1493523"/>
                <a:ext cx="377405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b="1" dirty="0">
                    <a:solidFill>
                      <a:srgbClr val="42C29A"/>
                    </a:solidFill>
                    <a:latin typeface="Segoe UI" panose="020B0502040204020203" pitchFamily="34" charset="0"/>
                  </a:rPr>
                  <a:t>Fin</a:t>
                </a:r>
                <a:endParaRPr lang="en-MU" sz="1600" dirty="0">
                  <a:solidFill>
                    <a:srgbClr val="42C29A"/>
                  </a:solidFill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97C2B7B-D2D6-5550-0580-A12D04439797}"/>
                  </a:ext>
                </a:extLst>
              </p:cNvPr>
              <p:cNvSpPr txBox="1"/>
              <p:nvPr/>
            </p:nvSpPr>
            <p:spPr>
              <a:xfrm>
                <a:off x="274967" y="2069968"/>
                <a:ext cx="3538987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24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Fini pour le Jour 1 </a:t>
                </a:r>
                <a:r>
                  <a:rPr lang="fr-FR" sz="2400" b="1" dirty="0">
                    <a:solidFill>
                      <a:srgbClr val="FF8C69"/>
                    </a:solidFill>
                    <a:latin typeface="Segoe UI" panose="020B0502040204020203" pitchFamily="34" charset="0"/>
                  </a:rPr>
                  <a:t>Bravo !!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999557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CA938-0E7D-7088-C78F-426573327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BA5087E-51C8-ACD8-BEB3-F664708F368E}"/>
              </a:ext>
            </a:extLst>
          </p:cNvPr>
          <p:cNvSpPr/>
          <p:nvPr/>
        </p:nvSpPr>
        <p:spPr>
          <a:xfrm>
            <a:off x="-1438" y="-31041"/>
            <a:ext cx="12192000" cy="612000"/>
          </a:xfrm>
          <a:prstGeom prst="rect">
            <a:avLst/>
          </a:prstGeom>
          <a:solidFill>
            <a:srgbClr val="1C1033"/>
          </a:solidFill>
          <a:ln>
            <a:solidFill>
              <a:srgbClr val="1C10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43304F-7A84-D2A1-0A96-1A01BC11F89A}"/>
              </a:ext>
            </a:extLst>
          </p:cNvPr>
          <p:cNvSpPr txBox="1"/>
          <p:nvPr/>
        </p:nvSpPr>
        <p:spPr>
          <a:xfrm>
            <a:off x="215661" y="90293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Skill</a:t>
            </a:r>
            <a:r>
              <a:rPr lang="fr-FR" b="1" i="0" dirty="0">
                <a:solidFill>
                  <a:srgbClr val="FF8C69"/>
                </a:solidFill>
                <a:effectLst/>
                <a:latin typeface="Segoe UI" panose="020B0502040204020203" pitchFamily="34" charset="0"/>
              </a:rPr>
              <a:t>Hub V2</a:t>
            </a:r>
            <a:endParaRPr lang="en-M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7C8566-B6FA-0737-771E-C4CA5CA63C33}"/>
              </a:ext>
            </a:extLst>
          </p:cNvPr>
          <p:cNvSpPr txBox="1"/>
          <p:nvPr/>
        </p:nvSpPr>
        <p:spPr>
          <a:xfrm>
            <a:off x="3262941" y="44126"/>
            <a:ext cx="56632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b="1" dirty="0">
                <a:solidFill>
                  <a:srgbClr val="FFFFFF"/>
                </a:solidFill>
                <a:latin typeface="Segoe UI" panose="020B0502040204020203" pitchFamily="34" charset="0"/>
              </a:rPr>
              <a:t>Jour 2 – </a:t>
            </a:r>
            <a:r>
              <a:rPr lang="fr-FR" sz="2400" b="1" dirty="0">
                <a:solidFill>
                  <a:srgbClr val="42C29A"/>
                </a:solidFill>
                <a:latin typeface="Segoe UI" panose="020B0502040204020203" pitchFamily="34" charset="0"/>
              </a:rPr>
              <a:t>Docker</a:t>
            </a:r>
            <a:endParaRPr lang="en-MU" sz="2400" dirty="0">
              <a:solidFill>
                <a:srgbClr val="42C29A"/>
              </a:solidFill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3A25FF8-2EB6-7D57-945E-F888F23FB805}"/>
              </a:ext>
            </a:extLst>
          </p:cNvPr>
          <p:cNvGrpSpPr/>
          <p:nvPr/>
        </p:nvGrpSpPr>
        <p:grpSpPr>
          <a:xfrm>
            <a:off x="215657" y="1396817"/>
            <a:ext cx="11757801" cy="1826391"/>
            <a:chOff x="215661" y="1313624"/>
            <a:chExt cx="11757801" cy="1826391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B916EB55-2AAE-027C-01C8-BC475913FFD5}"/>
                </a:ext>
              </a:extLst>
            </p:cNvPr>
            <p:cNvGrpSpPr/>
            <p:nvPr/>
          </p:nvGrpSpPr>
          <p:grpSpPr>
            <a:xfrm>
              <a:off x="215661" y="1319842"/>
              <a:ext cx="3774057" cy="1820173"/>
              <a:chOff x="215661" y="1319842"/>
              <a:chExt cx="3774057" cy="1820173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7078B220-B9DA-55A8-A96C-CA8C631AB822}"/>
                  </a:ext>
                </a:extLst>
              </p:cNvPr>
              <p:cNvSpPr/>
              <p:nvPr/>
            </p:nvSpPr>
            <p:spPr>
              <a:xfrm>
                <a:off x="215661" y="1319842"/>
                <a:ext cx="3774057" cy="1820173"/>
              </a:xfrm>
              <a:prstGeom prst="roundRect">
                <a:avLst/>
              </a:prstGeom>
              <a:solidFill>
                <a:srgbClr val="1C1033"/>
              </a:solidFill>
              <a:ln>
                <a:solidFill>
                  <a:srgbClr val="1C10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U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3D6813F-45D1-1CF3-9440-FFFE759F31E8}"/>
                  </a:ext>
                </a:extLst>
              </p:cNvPr>
              <p:cNvSpPr txBox="1"/>
              <p:nvPr/>
            </p:nvSpPr>
            <p:spPr>
              <a:xfrm>
                <a:off x="333195" y="1493523"/>
                <a:ext cx="353898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b="1" dirty="0">
                    <a:solidFill>
                      <a:srgbClr val="42C29A"/>
                    </a:solidFill>
                    <a:latin typeface="Segoe UI" panose="020B0502040204020203" pitchFamily="34" charset="0"/>
                  </a:rPr>
                  <a:t>Tâche 12 – </a:t>
                </a:r>
                <a:r>
                  <a:rPr lang="fr-FR" sz="1600" b="1" dirty="0" err="1">
                    <a:solidFill>
                      <a:srgbClr val="42C29A"/>
                    </a:solidFill>
                    <a:latin typeface="Segoe UI" panose="020B0502040204020203" pitchFamily="34" charset="0"/>
                  </a:rPr>
                  <a:t>Dockerfile</a:t>
                </a:r>
                <a:r>
                  <a:rPr lang="fr-FR" sz="1600" b="1" dirty="0">
                    <a:solidFill>
                      <a:srgbClr val="42C29A"/>
                    </a:solidFill>
                    <a:latin typeface="Segoe UI" panose="020B0502040204020203" pitchFamily="34" charset="0"/>
                  </a:rPr>
                  <a:t> </a:t>
                </a:r>
                <a:r>
                  <a:rPr lang="fr-FR" sz="1600" b="1" dirty="0" err="1">
                    <a:solidFill>
                      <a:srgbClr val="42C29A"/>
                    </a:solidFill>
                    <a:latin typeface="Segoe UI" panose="020B0502040204020203" pitchFamily="34" charset="0"/>
                  </a:rPr>
                  <a:t>Laravel</a:t>
                </a:r>
                <a:endParaRPr lang="en-MU" sz="1600" dirty="0">
                  <a:solidFill>
                    <a:srgbClr val="42C29A"/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1BE7AB3-67BB-D4C4-DD1D-1DED90BE2A2C}"/>
                  </a:ext>
                </a:extLst>
              </p:cNvPr>
              <p:cNvSpPr txBox="1"/>
              <p:nvPr/>
            </p:nvSpPr>
            <p:spPr>
              <a:xfrm>
                <a:off x="274966" y="1909131"/>
                <a:ext cx="35389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Créer </a:t>
                </a:r>
                <a:r>
                  <a:rPr lang="fr-FR" sz="1200" b="1" dirty="0" err="1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Dockerfile</a:t>
                </a: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 dans </a:t>
                </a:r>
                <a:r>
                  <a:rPr lang="fr-FR" sz="1200" b="1" dirty="0" err="1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skillhub</a:t>
                </a: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-backend (composer + php:8.3-fpm-alpine)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54B4956-1AAE-F91F-E202-FDA72FEC7235}"/>
                  </a:ext>
                </a:extLst>
              </p:cNvPr>
              <p:cNvSpPr txBox="1"/>
              <p:nvPr/>
            </p:nvSpPr>
            <p:spPr>
              <a:xfrm>
                <a:off x="634043" y="2693850"/>
                <a:ext cx="141041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400" b="1" dirty="0">
                    <a:solidFill>
                      <a:srgbClr val="FF8C69"/>
                    </a:solidFill>
                    <a:latin typeface="Segoe UI" panose="020B0502040204020203" pitchFamily="34" charset="0"/>
                  </a:rPr>
                  <a:t>El-</a:t>
                </a:r>
                <a:r>
                  <a:rPr lang="fr-FR" sz="1400" b="1" dirty="0" err="1">
                    <a:solidFill>
                      <a:srgbClr val="FF8C69"/>
                    </a:solidFill>
                    <a:latin typeface="Segoe UI" panose="020B0502040204020203" pitchFamily="34" charset="0"/>
                  </a:rPr>
                  <a:t>Fayed</a:t>
                </a:r>
                <a:endParaRPr lang="fr-FR" sz="1400" b="1" dirty="0">
                  <a:solidFill>
                    <a:srgbClr val="FF8C69"/>
                  </a:solidFill>
                  <a:latin typeface="Segoe UI" panose="020B0502040204020203" pitchFamily="34" charset="0"/>
                </a:endParaRPr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ADD20AEC-0536-A1E7-E4EC-3D0A8F4E5E96}"/>
                </a:ext>
              </a:extLst>
            </p:cNvPr>
            <p:cNvGrpSpPr/>
            <p:nvPr/>
          </p:nvGrpSpPr>
          <p:grpSpPr>
            <a:xfrm>
              <a:off x="4207533" y="1319842"/>
              <a:ext cx="3774057" cy="1820173"/>
              <a:chOff x="215661" y="1319842"/>
              <a:chExt cx="3774057" cy="1820173"/>
            </a:xfrm>
          </p:grpSpPr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9B9732F8-A4F5-FEDB-B6F4-2F26DA0A908B}"/>
                  </a:ext>
                </a:extLst>
              </p:cNvPr>
              <p:cNvSpPr/>
              <p:nvPr/>
            </p:nvSpPr>
            <p:spPr>
              <a:xfrm>
                <a:off x="215661" y="1319842"/>
                <a:ext cx="3774057" cy="1820173"/>
              </a:xfrm>
              <a:prstGeom prst="roundRect">
                <a:avLst/>
              </a:prstGeom>
              <a:solidFill>
                <a:srgbClr val="1C1033"/>
              </a:solidFill>
              <a:ln>
                <a:solidFill>
                  <a:srgbClr val="1C10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U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32D9A7C-DAE3-295B-A2D8-09B99457C2DE}"/>
                  </a:ext>
                </a:extLst>
              </p:cNvPr>
              <p:cNvSpPr txBox="1"/>
              <p:nvPr/>
            </p:nvSpPr>
            <p:spPr>
              <a:xfrm>
                <a:off x="333195" y="1493523"/>
                <a:ext cx="353898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b="1" dirty="0">
                    <a:solidFill>
                      <a:srgbClr val="42C29A"/>
                    </a:solidFill>
                    <a:latin typeface="Segoe UI" panose="020B0502040204020203" pitchFamily="34" charset="0"/>
                  </a:rPr>
                  <a:t>Tâche 13 – </a:t>
                </a:r>
                <a:r>
                  <a:rPr lang="fr-FR" sz="1600" b="1" dirty="0" err="1">
                    <a:solidFill>
                      <a:srgbClr val="42C29A"/>
                    </a:solidFill>
                    <a:latin typeface="Segoe UI" panose="020B0502040204020203" pitchFamily="34" charset="0"/>
                  </a:rPr>
                  <a:t>Dockerfile</a:t>
                </a:r>
                <a:r>
                  <a:rPr lang="fr-FR" sz="1600" b="1" dirty="0">
                    <a:solidFill>
                      <a:srgbClr val="42C29A"/>
                    </a:solidFill>
                    <a:latin typeface="Segoe UI" panose="020B0502040204020203" pitchFamily="34" charset="0"/>
                  </a:rPr>
                  <a:t> </a:t>
                </a:r>
                <a:r>
                  <a:rPr lang="fr-FR" sz="1600" b="1" dirty="0" err="1">
                    <a:solidFill>
                      <a:srgbClr val="42C29A"/>
                    </a:solidFill>
                    <a:latin typeface="Segoe UI" panose="020B0502040204020203" pitchFamily="34" charset="0"/>
                  </a:rPr>
                  <a:t>React</a:t>
                </a:r>
                <a:endParaRPr lang="en-MU" sz="1600" dirty="0">
                  <a:solidFill>
                    <a:srgbClr val="42C29A"/>
                  </a:solidFill>
                </a:endParaRP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4ABD302-66F4-B6C8-14AD-DF76B4455239}"/>
                  </a:ext>
                </a:extLst>
              </p:cNvPr>
              <p:cNvSpPr txBox="1"/>
              <p:nvPr/>
            </p:nvSpPr>
            <p:spPr>
              <a:xfrm>
                <a:off x="274966" y="1992877"/>
                <a:ext cx="35389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Créer </a:t>
                </a:r>
                <a:r>
                  <a:rPr lang="fr-FR" sz="1200" b="1" dirty="0" err="1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Dockerfile</a:t>
                </a: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 dans </a:t>
                </a:r>
                <a:r>
                  <a:rPr lang="fr-FR" sz="1200" b="1" dirty="0" err="1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skillhub</a:t>
                </a: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-frontend (node:20-alpine + </a:t>
                </a:r>
                <a:r>
                  <a:rPr lang="fr-FR" sz="1200" b="1" dirty="0" err="1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nginx:alpine</a:t>
                </a: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)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E881B54-5FE8-D5A0-861E-840B9106FB38}"/>
                  </a:ext>
                </a:extLst>
              </p:cNvPr>
              <p:cNvSpPr txBox="1"/>
              <p:nvPr/>
            </p:nvSpPr>
            <p:spPr>
              <a:xfrm>
                <a:off x="634043" y="2693850"/>
                <a:ext cx="141041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400" b="1" dirty="0" err="1">
                    <a:solidFill>
                      <a:srgbClr val="FF8C69"/>
                    </a:solidFill>
                    <a:latin typeface="Segoe UI" panose="020B0502040204020203" pitchFamily="34" charset="0"/>
                  </a:rPr>
                  <a:t>Thouaibat</a:t>
                </a:r>
                <a:endParaRPr lang="fr-FR" sz="1400" b="1" dirty="0">
                  <a:solidFill>
                    <a:srgbClr val="FF8C69"/>
                  </a:solidFill>
                  <a:latin typeface="Segoe UI" panose="020B0502040204020203" pitchFamily="34" charset="0"/>
                </a:endParaRPr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B2A2914F-EB50-4164-0E7A-94DD74955EFC}"/>
                </a:ext>
              </a:extLst>
            </p:cNvPr>
            <p:cNvGrpSpPr/>
            <p:nvPr/>
          </p:nvGrpSpPr>
          <p:grpSpPr>
            <a:xfrm>
              <a:off x="8199405" y="1313624"/>
              <a:ext cx="3774057" cy="1820173"/>
              <a:chOff x="215661" y="1319842"/>
              <a:chExt cx="3774057" cy="1820173"/>
            </a:xfrm>
          </p:grpSpPr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4970FF88-6DFB-CE39-EF8B-DB26DDE38051}"/>
                  </a:ext>
                </a:extLst>
              </p:cNvPr>
              <p:cNvSpPr/>
              <p:nvPr/>
            </p:nvSpPr>
            <p:spPr>
              <a:xfrm>
                <a:off x="215661" y="1319842"/>
                <a:ext cx="3774057" cy="1820173"/>
              </a:xfrm>
              <a:prstGeom prst="roundRect">
                <a:avLst/>
              </a:prstGeom>
              <a:solidFill>
                <a:srgbClr val="1C1033"/>
              </a:solidFill>
              <a:ln>
                <a:solidFill>
                  <a:srgbClr val="1C10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U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26DBCBD-6022-6DC0-13E7-2CE334C606B8}"/>
                  </a:ext>
                </a:extLst>
              </p:cNvPr>
              <p:cNvSpPr txBox="1"/>
              <p:nvPr/>
            </p:nvSpPr>
            <p:spPr>
              <a:xfrm>
                <a:off x="333195" y="1493523"/>
                <a:ext cx="3538987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b="1" dirty="0">
                    <a:solidFill>
                      <a:srgbClr val="42C29A"/>
                    </a:solidFill>
                    <a:latin typeface="Segoe UI" panose="020B0502040204020203" pitchFamily="34" charset="0"/>
                  </a:rPr>
                  <a:t>Tâche 14 – Vérifier </a:t>
                </a:r>
                <a:r>
                  <a:rPr lang="fr-FR" sz="1600" b="1" dirty="0" err="1">
                    <a:solidFill>
                      <a:srgbClr val="42C29A"/>
                    </a:solidFill>
                    <a:latin typeface="Segoe UI" panose="020B0502040204020203" pitchFamily="34" charset="0"/>
                  </a:rPr>
                  <a:t>Dockerfile</a:t>
                </a:r>
                <a:r>
                  <a:rPr lang="fr-FR" sz="1600" b="1" dirty="0">
                    <a:solidFill>
                      <a:srgbClr val="42C29A"/>
                    </a:solidFill>
                    <a:latin typeface="Segoe UI" panose="020B0502040204020203" pitchFamily="34" charset="0"/>
                  </a:rPr>
                  <a:t> Spring Boot</a:t>
                </a:r>
                <a:endParaRPr lang="en-MU" sz="1600" dirty="0">
                  <a:solidFill>
                    <a:srgbClr val="42C29A"/>
                  </a:solidFill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2BB9DD1-3AE2-6389-FFF3-89654C1AEB9C}"/>
                  </a:ext>
                </a:extLst>
              </p:cNvPr>
              <p:cNvSpPr txBox="1"/>
              <p:nvPr/>
            </p:nvSpPr>
            <p:spPr>
              <a:xfrm>
                <a:off x="274967" y="2007681"/>
                <a:ext cx="35389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Vérifier que le </a:t>
                </a:r>
                <a:r>
                  <a:rPr lang="fr-FR" sz="1200" b="1" dirty="0" err="1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Dockerfile</a:t>
                </a: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 existant dans </a:t>
                </a:r>
                <a:r>
                  <a:rPr lang="fr-FR" sz="1200" b="1" dirty="0" err="1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skillhub-auth</a:t>
                </a: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 fonctionne avec docker </a:t>
                </a:r>
                <a:r>
                  <a:rPr lang="fr-FR" sz="1200" b="1" dirty="0" err="1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build</a:t>
                </a:r>
                <a:endParaRPr lang="fr-FR" sz="1200" b="1" dirty="0">
                  <a:solidFill>
                    <a:srgbClr val="FFFFFF"/>
                  </a:solidFill>
                  <a:latin typeface="Segoe UI" panose="020B0502040204020203" pitchFamily="34" charset="0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EE3CDEB0-CE18-D4E4-7419-ED0306055035}"/>
                  </a:ext>
                </a:extLst>
              </p:cNvPr>
              <p:cNvSpPr txBox="1"/>
              <p:nvPr/>
            </p:nvSpPr>
            <p:spPr>
              <a:xfrm>
                <a:off x="634043" y="2693850"/>
                <a:ext cx="141041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400" b="1" dirty="0">
                    <a:solidFill>
                      <a:srgbClr val="FF8C69"/>
                    </a:solidFill>
                    <a:latin typeface="Segoe UI" panose="020B0502040204020203" pitchFamily="34" charset="0"/>
                  </a:rPr>
                  <a:t>Anne-Sophie</a:t>
                </a:r>
              </a:p>
            </p:txBody>
          </p:sp>
        </p:grp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6E5D077-6B49-926A-682D-CB45ABD228F3}"/>
              </a:ext>
            </a:extLst>
          </p:cNvPr>
          <p:cNvGrpSpPr/>
          <p:nvPr/>
        </p:nvGrpSpPr>
        <p:grpSpPr>
          <a:xfrm>
            <a:off x="215657" y="3628574"/>
            <a:ext cx="11757801" cy="1826391"/>
            <a:chOff x="215661" y="1313624"/>
            <a:chExt cx="11757801" cy="1826391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3F776EF9-43A4-5E2F-78B8-7A85213D76F4}"/>
                </a:ext>
              </a:extLst>
            </p:cNvPr>
            <p:cNvGrpSpPr/>
            <p:nvPr/>
          </p:nvGrpSpPr>
          <p:grpSpPr>
            <a:xfrm>
              <a:off x="215661" y="1319842"/>
              <a:ext cx="3774057" cy="1820173"/>
              <a:chOff x="215661" y="1319842"/>
              <a:chExt cx="3774057" cy="1820173"/>
            </a:xfrm>
          </p:grpSpPr>
          <p:sp>
            <p:nvSpPr>
              <p:cNvPr id="72" name="Rectangle: Rounded Corners 71">
                <a:extLst>
                  <a:ext uri="{FF2B5EF4-FFF2-40B4-BE49-F238E27FC236}">
                    <a16:creationId xmlns:a16="http://schemas.microsoft.com/office/drawing/2014/main" id="{688554C1-D890-4948-3B08-6BE81925EA3E}"/>
                  </a:ext>
                </a:extLst>
              </p:cNvPr>
              <p:cNvSpPr/>
              <p:nvPr/>
            </p:nvSpPr>
            <p:spPr>
              <a:xfrm>
                <a:off x="215661" y="1319842"/>
                <a:ext cx="3774057" cy="1820173"/>
              </a:xfrm>
              <a:prstGeom prst="roundRect">
                <a:avLst/>
              </a:prstGeom>
              <a:solidFill>
                <a:srgbClr val="1C1033"/>
              </a:solidFill>
              <a:ln>
                <a:solidFill>
                  <a:srgbClr val="1C10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U"/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3711551B-E353-50BA-43BE-3E508D7F7842}"/>
                  </a:ext>
                </a:extLst>
              </p:cNvPr>
              <p:cNvSpPr txBox="1"/>
              <p:nvPr/>
            </p:nvSpPr>
            <p:spPr>
              <a:xfrm>
                <a:off x="333195" y="1493523"/>
                <a:ext cx="353898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b="1" dirty="0">
                    <a:solidFill>
                      <a:srgbClr val="42C29A"/>
                    </a:solidFill>
                    <a:latin typeface="Segoe UI" panose="020B0502040204020203" pitchFamily="34" charset="0"/>
                  </a:rPr>
                  <a:t>Tâche 15 – Créer .</a:t>
                </a:r>
                <a:r>
                  <a:rPr lang="fr-FR" sz="1600" b="1" dirty="0" err="1">
                    <a:solidFill>
                      <a:srgbClr val="42C29A"/>
                    </a:solidFill>
                    <a:latin typeface="Segoe UI" panose="020B0502040204020203" pitchFamily="34" charset="0"/>
                  </a:rPr>
                  <a:t>env.example</a:t>
                </a:r>
                <a:endParaRPr lang="en-MU" sz="1600" dirty="0">
                  <a:solidFill>
                    <a:srgbClr val="42C29A"/>
                  </a:solidFill>
                </a:endParaRP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F7EBBC3C-0FF7-C4AC-5E9C-444571A2E985}"/>
                  </a:ext>
                </a:extLst>
              </p:cNvPr>
              <p:cNvSpPr txBox="1"/>
              <p:nvPr/>
            </p:nvSpPr>
            <p:spPr>
              <a:xfrm>
                <a:off x="274966" y="1900544"/>
                <a:ext cx="35389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Lister toutes les variables nécessaires sans les vraies valeurs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11AC59E0-7FD4-14FB-5C0A-198C158D8C1B}"/>
                  </a:ext>
                </a:extLst>
              </p:cNvPr>
              <p:cNvSpPr txBox="1"/>
              <p:nvPr/>
            </p:nvSpPr>
            <p:spPr>
              <a:xfrm>
                <a:off x="634043" y="2693850"/>
                <a:ext cx="141041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400" b="1" dirty="0">
                    <a:solidFill>
                      <a:srgbClr val="FF8C69"/>
                    </a:solidFill>
                    <a:latin typeface="Segoe UI" panose="020B0502040204020203" pitchFamily="34" charset="0"/>
                  </a:rPr>
                  <a:t>Anne-Sophie</a:t>
                </a:r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3FDA1545-5E9C-FAA7-E8B2-B6073AAEFEC3}"/>
                </a:ext>
              </a:extLst>
            </p:cNvPr>
            <p:cNvGrpSpPr/>
            <p:nvPr/>
          </p:nvGrpSpPr>
          <p:grpSpPr>
            <a:xfrm>
              <a:off x="4207533" y="1319842"/>
              <a:ext cx="3774057" cy="1820173"/>
              <a:chOff x="215661" y="1319842"/>
              <a:chExt cx="3774057" cy="1820173"/>
            </a:xfrm>
          </p:grpSpPr>
          <p:sp>
            <p:nvSpPr>
              <p:cNvPr id="68" name="Rectangle: Rounded Corners 67">
                <a:extLst>
                  <a:ext uri="{FF2B5EF4-FFF2-40B4-BE49-F238E27FC236}">
                    <a16:creationId xmlns:a16="http://schemas.microsoft.com/office/drawing/2014/main" id="{E7B8EB7B-7B6A-8DB8-A233-C48095C45A42}"/>
                  </a:ext>
                </a:extLst>
              </p:cNvPr>
              <p:cNvSpPr/>
              <p:nvPr/>
            </p:nvSpPr>
            <p:spPr>
              <a:xfrm>
                <a:off x="215661" y="1319842"/>
                <a:ext cx="3774057" cy="1820173"/>
              </a:xfrm>
              <a:prstGeom prst="roundRect">
                <a:avLst/>
              </a:prstGeom>
              <a:solidFill>
                <a:srgbClr val="1C1033"/>
              </a:solidFill>
              <a:ln>
                <a:solidFill>
                  <a:srgbClr val="1C10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U"/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991B63F-28B1-72A9-CFAE-E3C96767D07C}"/>
                  </a:ext>
                </a:extLst>
              </p:cNvPr>
              <p:cNvSpPr txBox="1"/>
              <p:nvPr/>
            </p:nvSpPr>
            <p:spPr>
              <a:xfrm>
                <a:off x="333195" y="1493523"/>
                <a:ext cx="3538987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b="1" dirty="0">
                    <a:solidFill>
                      <a:srgbClr val="42C29A"/>
                    </a:solidFill>
                    <a:latin typeface="Segoe UI" panose="020B0502040204020203" pitchFamily="34" charset="0"/>
                  </a:rPr>
                  <a:t>Tâche 16 – Créer docker-</a:t>
                </a:r>
                <a:r>
                  <a:rPr lang="fr-FR" sz="1600" b="1" dirty="0" err="1">
                    <a:solidFill>
                      <a:srgbClr val="42C29A"/>
                    </a:solidFill>
                    <a:latin typeface="Segoe UI" panose="020B0502040204020203" pitchFamily="34" charset="0"/>
                  </a:rPr>
                  <a:t>compose.yml</a:t>
                </a:r>
                <a:endParaRPr lang="en-MU" sz="1600" dirty="0">
                  <a:solidFill>
                    <a:srgbClr val="42C29A"/>
                  </a:solidFill>
                </a:endParaRP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A077834-2D6D-60A9-AB8B-8AA80F9821DF}"/>
                  </a:ext>
                </a:extLst>
              </p:cNvPr>
              <p:cNvSpPr txBox="1"/>
              <p:nvPr/>
            </p:nvSpPr>
            <p:spPr>
              <a:xfrm>
                <a:off x="274966" y="2062909"/>
                <a:ext cx="3538987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5 services (frontend, backend, auth, </a:t>
                </a:r>
                <a:r>
                  <a:rPr lang="en-GB" sz="1200" b="1" dirty="0" err="1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mysql</a:t>
                </a:r>
                <a:r>
                  <a:rPr lang="en-GB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, </a:t>
                </a:r>
                <a:r>
                  <a:rPr lang="en-GB" sz="1200" b="1" dirty="0" err="1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mongodb</a:t>
                </a:r>
                <a:r>
                  <a:rPr lang="en-GB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), réseau interne, health checks, restart: unless-stopped</a:t>
                </a:r>
                <a:endParaRPr lang="fr-FR" sz="1200" b="1" dirty="0">
                  <a:solidFill>
                    <a:srgbClr val="FFFFFF"/>
                  </a:solidFill>
                  <a:latin typeface="Segoe UI" panose="020B0502040204020203" pitchFamily="34" charset="0"/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A7C9BA31-596B-9C8E-667F-15EAE762136D}"/>
                  </a:ext>
                </a:extLst>
              </p:cNvPr>
              <p:cNvSpPr txBox="1"/>
              <p:nvPr/>
            </p:nvSpPr>
            <p:spPr>
              <a:xfrm>
                <a:off x="634043" y="2693850"/>
                <a:ext cx="141041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400" b="1" dirty="0">
                    <a:solidFill>
                      <a:srgbClr val="FF8C69"/>
                    </a:solidFill>
                    <a:latin typeface="Segoe UI" panose="020B0502040204020203" pitchFamily="34" charset="0"/>
                  </a:rPr>
                  <a:t>Anne-Sophie</a:t>
                </a:r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A4EE641D-8627-9721-07C9-4836FE3CDD5D}"/>
                </a:ext>
              </a:extLst>
            </p:cNvPr>
            <p:cNvGrpSpPr/>
            <p:nvPr/>
          </p:nvGrpSpPr>
          <p:grpSpPr>
            <a:xfrm>
              <a:off x="8199405" y="1313624"/>
              <a:ext cx="3774057" cy="1820173"/>
              <a:chOff x="215661" y="1319842"/>
              <a:chExt cx="3774057" cy="1820173"/>
            </a:xfrm>
          </p:grpSpPr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1BB90744-EC3F-9149-F18D-C8C0FE5EB4F2}"/>
                  </a:ext>
                </a:extLst>
              </p:cNvPr>
              <p:cNvSpPr/>
              <p:nvPr/>
            </p:nvSpPr>
            <p:spPr>
              <a:xfrm>
                <a:off x="215661" y="1319842"/>
                <a:ext cx="3774057" cy="1820173"/>
              </a:xfrm>
              <a:prstGeom prst="roundRect">
                <a:avLst/>
              </a:prstGeom>
              <a:solidFill>
                <a:srgbClr val="1C1033"/>
              </a:solidFill>
              <a:ln>
                <a:solidFill>
                  <a:srgbClr val="1C10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U"/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485E9B7-16A8-08F2-CB29-0B6F12DA5269}"/>
                  </a:ext>
                </a:extLst>
              </p:cNvPr>
              <p:cNvSpPr txBox="1"/>
              <p:nvPr/>
            </p:nvSpPr>
            <p:spPr>
              <a:xfrm>
                <a:off x="215661" y="1493523"/>
                <a:ext cx="377405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b="1" dirty="0">
                    <a:solidFill>
                      <a:srgbClr val="42C29A"/>
                    </a:solidFill>
                    <a:latin typeface="Segoe UI" panose="020B0502040204020203" pitchFamily="34" charset="0"/>
                  </a:rPr>
                  <a:t>Tâche 17 - Tester docker compose</a:t>
                </a:r>
                <a:endParaRPr lang="en-MU" sz="1600" dirty="0">
                  <a:solidFill>
                    <a:srgbClr val="42C29A"/>
                  </a:solidFill>
                </a:endParaRP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A44274F5-ED1C-6782-C451-A55E2D6F7C9C}"/>
                  </a:ext>
                </a:extLst>
              </p:cNvPr>
              <p:cNvSpPr txBox="1"/>
              <p:nvPr/>
            </p:nvSpPr>
            <p:spPr>
              <a:xfrm>
                <a:off x="274967" y="1906762"/>
                <a:ext cx="3538987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Lancer docker compose up --</a:t>
                </a:r>
                <a:r>
                  <a:rPr lang="fr-FR" sz="1200" b="1" dirty="0" err="1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build</a:t>
                </a: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, vérifier que tout démarre, tester le login dans le navigateur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192F5FB7-9258-8D59-292A-3DD72D623585}"/>
                  </a:ext>
                </a:extLst>
              </p:cNvPr>
              <p:cNvSpPr txBox="1"/>
              <p:nvPr/>
            </p:nvSpPr>
            <p:spPr>
              <a:xfrm>
                <a:off x="634043" y="2693850"/>
                <a:ext cx="141041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400" b="1" dirty="0">
                    <a:solidFill>
                      <a:srgbClr val="FF8C69"/>
                    </a:solidFill>
                    <a:latin typeface="Segoe UI" panose="020B0502040204020203" pitchFamily="34" charset="0"/>
                  </a:rPr>
                  <a:t>Tout le monde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308808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FD171-8503-1EE4-B00F-543F7BED3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5B6164B-011B-4AB3-F52E-2E533DCB55EF}"/>
              </a:ext>
            </a:extLst>
          </p:cNvPr>
          <p:cNvSpPr/>
          <p:nvPr/>
        </p:nvSpPr>
        <p:spPr>
          <a:xfrm>
            <a:off x="-1438" y="-31041"/>
            <a:ext cx="12192000" cy="612000"/>
          </a:xfrm>
          <a:prstGeom prst="rect">
            <a:avLst/>
          </a:prstGeom>
          <a:solidFill>
            <a:srgbClr val="1C1033"/>
          </a:solidFill>
          <a:ln>
            <a:solidFill>
              <a:srgbClr val="1C10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883BB8-CDB3-0B25-16AE-FE40A5A0967C}"/>
              </a:ext>
            </a:extLst>
          </p:cNvPr>
          <p:cNvSpPr txBox="1"/>
          <p:nvPr/>
        </p:nvSpPr>
        <p:spPr>
          <a:xfrm>
            <a:off x="215661" y="90293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Skill</a:t>
            </a:r>
            <a:r>
              <a:rPr lang="fr-FR" b="1" i="0" dirty="0">
                <a:solidFill>
                  <a:srgbClr val="FF8C69"/>
                </a:solidFill>
                <a:effectLst/>
                <a:latin typeface="Segoe UI" panose="020B0502040204020203" pitchFamily="34" charset="0"/>
              </a:rPr>
              <a:t>Hub V2</a:t>
            </a:r>
            <a:endParaRPr lang="en-M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604D90-8E75-2AC0-9121-179B2DAA33A0}"/>
              </a:ext>
            </a:extLst>
          </p:cNvPr>
          <p:cNvSpPr txBox="1"/>
          <p:nvPr/>
        </p:nvSpPr>
        <p:spPr>
          <a:xfrm>
            <a:off x="3262941" y="44126"/>
            <a:ext cx="56632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b="1" dirty="0">
                <a:solidFill>
                  <a:srgbClr val="FFFFFF"/>
                </a:solidFill>
                <a:latin typeface="Segoe UI" panose="020B0502040204020203" pitchFamily="34" charset="0"/>
              </a:rPr>
              <a:t>Jour 3 – </a:t>
            </a:r>
            <a:r>
              <a:rPr lang="fr-FR" sz="2400" b="1" dirty="0">
                <a:solidFill>
                  <a:srgbClr val="42C29A"/>
                </a:solidFill>
                <a:latin typeface="Segoe UI" panose="020B0502040204020203" pitchFamily="34" charset="0"/>
              </a:rPr>
              <a:t>CI/CD et </a:t>
            </a:r>
            <a:r>
              <a:rPr lang="fr-FR" sz="2400" b="1" dirty="0" err="1">
                <a:solidFill>
                  <a:srgbClr val="42C29A"/>
                </a:solidFill>
                <a:latin typeface="Segoe UI" panose="020B0502040204020203" pitchFamily="34" charset="0"/>
              </a:rPr>
              <a:t>SonarCloud</a:t>
            </a:r>
            <a:endParaRPr lang="en-MU" sz="2400" dirty="0">
              <a:solidFill>
                <a:srgbClr val="42C29A"/>
              </a:solidFill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8D6E277-52C1-867A-BF36-D9D4DFE4AB58}"/>
              </a:ext>
            </a:extLst>
          </p:cNvPr>
          <p:cNvGrpSpPr/>
          <p:nvPr/>
        </p:nvGrpSpPr>
        <p:grpSpPr>
          <a:xfrm>
            <a:off x="215657" y="1396817"/>
            <a:ext cx="11757801" cy="1826391"/>
            <a:chOff x="215661" y="1313624"/>
            <a:chExt cx="11757801" cy="1826391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582EA406-8899-A3FB-111B-F12374664136}"/>
                </a:ext>
              </a:extLst>
            </p:cNvPr>
            <p:cNvGrpSpPr/>
            <p:nvPr/>
          </p:nvGrpSpPr>
          <p:grpSpPr>
            <a:xfrm>
              <a:off x="215661" y="1319842"/>
              <a:ext cx="3774057" cy="1820173"/>
              <a:chOff x="215661" y="1319842"/>
              <a:chExt cx="3774057" cy="1820173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C7FFDFD0-97C2-5BBF-E418-4B288D989799}"/>
                  </a:ext>
                </a:extLst>
              </p:cNvPr>
              <p:cNvSpPr/>
              <p:nvPr/>
            </p:nvSpPr>
            <p:spPr>
              <a:xfrm>
                <a:off x="215661" y="1319842"/>
                <a:ext cx="3774057" cy="1820173"/>
              </a:xfrm>
              <a:prstGeom prst="roundRect">
                <a:avLst/>
              </a:prstGeom>
              <a:solidFill>
                <a:srgbClr val="1C1033"/>
              </a:solidFill>
              <a:ln>
                <a:solidFill>
                  <a:srgbClr val="1C10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U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8C9B2C0-572A-A0A1-3A91-80B3BEBDA75F}"/>
                  </a:ext>
                </a:extLst>
              </p:cNvPr>
              <p:cNvSpPr txBox="1"/>
              <p:nvPr/>
            </p:nvSpPr>
            <p:spPr>
              <a:xfrm>
                <a:off x="333195" y="1493523"/>
                <a:ext cx="3538987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b="1" dirty="0">
                    <a:solidFill>
                      <a:srgbClr val="42C29A"/>
                    </a:solidFill>
                    <a:latin typeface="Segoe UI" panose="020B0502040204020203" pitchFamily="34" charset="0"/>
                  </a:rPr>
                  <a:t>Tâche 18 – Vérifier les tests unitaires</a:t>
                </a:r>
                <a:endParaRPr lang="en-MU" sz="1600" dirty="0">
                  <a:solidFill>
                    <a:srgbClr val="42C29A"/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325240D-5BCA-BD99-5EDB-092F9D4A5DEF}"/>
                  </a:ext>
                </a:extLst>
              </p:cNvPr>
              <p:cNvSpPr txBox="1"/>
              <p:nvPr/>
            </p:nvSpPr>
            <p:spPr>
              <a:xfrm>
                <a:off x="274966" y="2039769"/>
                <a:ext cx="35389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S'assurer que les 13 tests </a:t>
                </a:r>
                <a:r>
                  <a:rPr lang="fr-FR" sz="1200" b="1" dirty="0" err="1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Laravel</a:t>
                </a: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 passent, corriger si besoin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C09D121-DFFF-1746-443D-F87C8F9047F5}"/>
                  </a:ext>
                </a:extLst>
              </p:cNvPr>
              <p:cNvSpPr txBox="1"/>
              <p:nvPr/>
            </p:nvSpPr>
            <p:spPr>
              <a:xfrm>
                <a:off x="634043" y="2693850"/>
                <a:ext cx="141041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400" b="1" dirty="0">
                    <a:solidFill>
                      <a:srgbClr val="FF8C69"/>
                    </a:solidFill>
                    <a:latin typeface="Segoe UI" panose="020B0502040204020203" pitchFamily="34" charset="0"/>
                  </a:rPr>
                  <a:t>El-</a:t>
                </a:r>
                <a:r>
                  <a:rPr lang="fr-FR" sz="1400" b="1" dirty="0" err="1">
                    <a:solidFill>
                      <a:srgbClr val="FF8C69"/>
                    </a:solidFill>
                    <a:latin typeface="Segoe UI" panose="020B0502040204020203" pitchFamily="34" charset="0"/>
                  </a:rPr>
                  <a:t>Fayed</a:t>
                </a:r>
                <a:endParaRPr lang="fr-FR" sz="1400" b="1" dirty="0">
                  <a:solidFill>
                    <a:srgbClr val="FF8C69"/>
                  </a:solidFill>
                  <a:latin typeface="Segoe UI" panose="020B0502040204020203" pitchFamily="34" charset="0"/>
                </a:endParaRPr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3CF1A041-09CB-2744-B745-777DD178D254}"/>
                </a:ext>
              </a:extLst>
            </p:cNvPr>
            <p:cNvGrpSpPr/>
            <p:nvPr/>
          </p:nvGrpSpPr>
          <p:grpSpPr>
            <a:xfrm>
              <a:off x="4149305" y="1319842"/>
              <a:ext cx="3991870" cy="1820173"/>
              <a:chOff x="157433" y="1319842"/>
              <a:chExt cx="3991870" cy="1820173"/>
            </a:xfrm>
          </p:grpSpPr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B8368C8C-E628-5DE7-5382-922D5424D12E}"/>
                  </a:ext>
                </a:extLst>
              </p:cNvPr>
              <p:cNvSpPr/>
              <p:nvPr/>
            </p:nvSpPr>
            <p:spPr>
              <a:xfrm>
                <a:off x="215661" y="1319842"/>
                <a:ext cx="3774057" cy="1820173"/>
              </a:xfrm>
              <a:prstGeom prst="roundRect">
                <a:avLst/>
              </a:prstGeom>
              <a:solidFill>
                <a:srgbClr val="1C1033"/>
              </a:solidFill>
              <a:ln>
                <a:solidFill>
                  <a:srgbClr val="1C10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U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23B1B59-40CA-7298-0B3E-E569F469CC41}"/>
                  </a:ext>
                </a:extLst>
              </p:cNvPr>
              <p:cNvSpPr txBox="1"/>
              <p:nvPr/>
            </p:nvSpPr>
            <p:spPr>
              <a:xfrm>
                <a:off x="333195" y="1493523"/>
                <a:ext cx="3538987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b="1" dirty="0">
                    <a:solidFill>
                      <a:srgbClr val="42C29A"/>
                    </a:solidFill>
                    <a:latin typeface="Segoe UI" panose="020B0502040204020203" pitchFamily="34" charset="0"/>
                  </a:rPr>
                  <a:t>Tâche 19 – Configurer les secrets GitHub</a:t>
                </a:r>
                <a:endParaRPr lang="en-MU" sz="1600" dirty="0">
                  <a:solidFill>
                    <a:srgbClr val="42C29A"/>
                  </a:solidFill>
                </a:endParaRP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9404301-8A23-25AA-6A59-BAACA79F11A9}"/>
                  </a:ext>
                </a:extLst>
              </p:cNvPr>
              <p:cNvSpPr txBox="1"/>
              <p:nvPr/>
            </p:nvSpPr>
            <p:spPr>
              <a:xfrm>
                <a:off x="157433" y="1992877"/>
                <a:ext cx="399187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Ajouter dans Settings → Secrets : DOCKER_USERNAME, DOCKER_TOKEN, JWT_SECRET, APP_MASTER_KEY, SONAR_TOKEN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8F79453-940E-A57A-F0D5-644B457E4F82}"/>
                  </a:ext>
                </a:extLst>
              </p:cNvPr>
              <p:cNvSpPr txBox="1"/>
              <p:nvPr/>
            </p:nvSpPr>
            <p:spPr>
              <a:xfrm>
                <a:off x="634043" y="2693850"/>
                <a:ext cx="141041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400" b="1" dirty="0">
                    <a:solidFill>
                      <a:srgbClr val="FF8C69"/>
                    </a:solidFill>
                    <a:latin typeface="Segoe UI" panose="020B0502040204020203" pitchFamily="34" charset="0"/>
                  </a:rPr>
                  <a:t>Anne-Sophie</a:t>
                </a:r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9404183E-83BC-7630-9C71-A53977ED0D34}"/>
                </a:ext>
              </a:extLst>
            </p:cNvPr>
            <p:cNvGrpSpPr/>
            <p:nvPr/>
          </p:nvGrpSpPr>
          <p:grpSpPr>
            <a:xfrm>
              <a:off x="8199405" y="1313624"/>
              <a:ext cx="3774057" cy="1820173"/>
              <a:chOff x="215661" y="1319842"/>
              <a:chExt cx="3774057" cy="1820173"/>
            </a:xfrm>
          </p:grpSpPr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C1A2CA96-666C-A45A-7027-EA7ACFADD04C}"/>
                  </a:ext>
                </a:extLst>
              </p:cNvPr>
              <p:cNvSpPr/>
              <p:nvPr/>
            </p:nvSpPr>
            <p:spPr>
              <a:xfrm>
                <a:off x="215661" y="1319842"/>
                <a:ext cx="3774057" cy="1820173"/>
              </a:xfrm>
              <a:prstGeom prst="roundRect">
                <a:avLst/>
              </a:prstGeom>
              <a:solidFill>
                <a:srgbClr val="1C1033"/>
              </a:solidFill>
              <a:ln>
                <a:solidFill>
                  <a:srgbClr val="1C10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U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F667301-7C10-9F42-4452-70854AD850E6}"/>
                  </a:ext>
                </a:extLst>
              </p:cNvPr>
              <p:cNvSpPr txBox="1"/>
              <p:nvPr/>
            </p:nvSpPr>
            <p:spPr>
              <a:xfrm>
                <a:off x="333195" y="1493523"/>
                <a:ext cx="353898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b="1" dirty="0">
                    <a:solidFill>
                      <a:srgbClr val="42C29A"/>
                    </a:solidFill>
                    <a:latin typeface="Segoe UI" panose="020B0502040204020203" pitchFamily="34" charset="0"/>
                  </a:rPr>
                  <a:t>Tâche 20 – Créer le pipeline CI</a:t>
                </a:r>
                <a:endParaRPr lang="en-MU" sz="1600" dirty="0">
                  <a:solidFill>
                    <a:srgbClr val="42C29A"/>
                  </a:solidFill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D9C56205-841C-B5B1-E1F9-FCA13B00D5AE}"/>
                  </a:ext>
                </a:extLst>
              </p:cNvPr>
              <p:cNvSpPr txBox="1"/>
              <p:nvPr/>
            </p:nvSpPr>
            <p:spPr>
              <a:xfrm>
                <a:off x="274967" y="2007681"/>
                <a:ext cx="3538987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Créer .</a:t>
                </a:r>
                <a:r>
                  <a:rPr lang="fr-FR" sz="1200" b="1" dirty="0" err="1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github</a:t>
                </a: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/workflows/</a:t>
                </a:r>
                <a:r>
                  <a:rPr lang="fr-FR" sz="1200" b="1" dirty="0" err="1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ci.yml</a:t>
                </a: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 avec les étapes : </a:t>
                </a:r>
                <a:r>
                  <a:rPr lang="fr-FR" sz="1200" b="1" dirty="0" err="1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install</a:t>
                </a: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 → tests → </a:t>
                </a:r>
                <a:r>
                  <a:rPr lang="fr-FR" sz="1200" b="1" dirty="0" err="1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build</a:t>
                </a: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 image Docker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5CF8CF17-8F3C-399F-CA36-BF857BA6D1E2}"/>
                  </a:ext>
                </a:extLst>
              </p:cNvPr>
              <p:cNvSpPr txBox="1"/>
              <p:nvPr/>
            </p:nvSpPr>
            <p:spPr>
              <a:xfrm>
                <a:off x="634043" y="2693850"/>
                <a:ext cx="141041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400" b="1" dirty="0">
                    <a:solidFill>
                      <a:srgbClr val="FF8C69"/>
                    </a:solidFill>
                    <a:latin typeface="Segoe UI" panose="020B0502040204020203" pitchFamily="34" charset="0"/>
                  </a:rPr>
                  <a:t>Anne-Sophie</a:t>
                </a:r>
              </a:p>
            </p:txBody>
          </p:sp>
        </p:grp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42C6751-2462-18DC-CBD0-7DA278BCFC61}"/>
              </a:ext>
            </a:extLst>
          </p:cNvPr>
          <p:cNvGrpSpPr/>
          <p:nvPr/>
        </p:nvGrpSpPr>
        <p:grpSpPr>
          <a:xfrm>
            <a:off x="215657" y="3628574"/>
            <a:ext cx="11757801" cy="1826391"/>
            <a:chOff x="215661" y="1313624"/>
            <a:chExt cx="11757801" cy="1826391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79972448-31AE-882B-FA52-3BB8206EAEBB}"/>
                </a:ext>
              </a:extLst>
            </p:cNvPr>
            <p:cNvGrpSpPr/>
            <p:nvPr/>
          </p:nvGrpSpPr>
          <p:grpSpPr>
            <a:xfrm>
              <a:off x="215661" y="1319842"/>
              <a:ext cx="3774057" cy="1820173"/>
              <a:chOff x="215661" y="1319842"/>
              <a:chExt cx="3774057" cy="1820173"/>
            </a:xfrm>
          </p:grpSpPr>
          <p:sp>
            <p:nvSpPr>
              <p:cNvPr id="72" name="Rectangle: Rounded Corners 71">
                <a:extLst>
                  <a:ext uri="{FF2B5EF4-FFF2-40B4-BE49-F238E27FC236}">
                    <a16:creationId xmlns:a16="http://schemas.microsoft.com/office/drawing/2014/main" id="{D39B3ADA-0F6B-36D1-C88E-38F8DD87C712}"/>
                  </a:ext>
                </a:extLst>
              </p:cNvPr>
              <p:cNvSpPr/>
              <p:nvPr/>
            </p:nvSpPr>
            <p:spPr>
              <a:xfrm>
                <a:off x="215661" y="1319842"/>
                <a:ext cx="3774057" cy="1820173"/>
              </a:xfrm>
              <a:prstGeom prst="roundRect">
                <a:avLst/>
              </a:prstGeom>
              <a:solidFill>
                <a:srgbClr val="1C1033"/>
              </a:solidFill>
              <a:ln>
                <a:solidFill>
                  <a:srgbClr val="1C10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U"/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C37CC7C0-1217-E1AF-46EE-A53B34D0FE55}"/>
                  </a:ext>
                </a:extLst>
              </p:cNvPr>
              <p:cNvSpPr txBox="1"/>
              <p:nvPr/>
            </p:nvSpPr>
            <p:spPr>
              <a:xfrm>
                <a:off x="333195" y="1493523"/>
                <a:ext cx="353898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b="1" dirty="0">
                    <a:solidFill>
                      <a:srgbClr val="42C29A"/>
                    </a:solidFill>
                    <a:latin typeface="Segoe UI" panose="020B0502040204020203" pitchFamily="34" charset="0"/>
                  </a:rPr>
                  <a:t>Tâche 21 – Connecter </a:t>
                </a:r>
                <a:r>
                  <a:rPr lang="fr-FR" sz="1600" b="1" dirty="0" err="1">
                    <a:solidFill>
                      <a:srgbClr val="42C29A"/>
                    </a:solidFill>
                    <a:latin typeface="Segoe UI" panose="020B0502040204020203" pitchFamily="34" charset="0"/>
                  </a:rPr>
                  <a:t>SonarCloud</a:t>
                </a:r>
                <a:endParaRPr lang="en-MU" sz="1600" dirty="0">
                  <a:solidFill>
                    <a:srgbClr val="42C29A"/>
                  </a:solidFill>
                </a:endParaRP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614E71E2-A432-B6AF-8949-6F80A89C1E26}"/>
                  </a:ext>
                </a:extLst>
              </p:cNvPr>
              <p:cNvSpPr txBox="1"/>
              <p:nvPr/>
            </p:nvSpPr>
            <p:spPr>
              <a:xfrm>
                <a:off x="274966" y="1900544"/>
                <a:ext cx="3538987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Créer projet sur sonarcloud.io, ajouter SONAR_TOKEN, intégrer dans le pipeline CI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123C4953-B251-DA4F-A58C-FFD6DDF8E89F}"/>
                  </a:ext>
                </a:extLst>
              </p:cNvPr>
              <p:cNvSpPr txBox="1"/>
              <p:nvPr/>
            </p:nvSpPr>
            <p:spPr>
              <a:xfrm>
                <a:off x="634043" y="2693850"/>
                <a:ext cx="141041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400" b="1" dirty="0" err="1">
                    <a:solidFill>
                      <a:srgbClr val="FF8C69"/>
                    </a:solidFill>
                    <a:latin typeface="Segoe UI" panose="020B0502040204020203" pitchFamily="34" charset="0"/>
                  </a:rPr>
                  <a:t>Thouaibat</a:t>
                </a:r>
                <a:endParaRPr lang="fr-FR" sz="1400" b="1" dirty="0">
                  <a:solidFill>
                    <a:srgbClr val="FF8C69"/>
                  </a:solidFill>
                  <a:latin typeface="Segoe UI" panose="020B0502040204020203" pitchFamily="34" charset="0"/>
                </a:endParaRPr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4A577929-24BF-DCC5-0DCF-BE8B9F7D9EF5}"/>
                </a:ext>
              </a:extLst>
            </p:cNvPr>
            <p:cNvGrpSpPr/>
            <p:nvPr/>
          </p:nvGrpSpPr>
          <p:grpSpPr>
            <a:xfrm>
              <a:off x="4207533" y="1319842"/>
              <a:ext cx="3774057" cy="1820173"/>
              <a:chOff x="215661" y="1319842"/>
              <a:chExt cx="3774057" cy="1820173"/>
            </a:xfrm>
          </p:grpSpPr>
          <p:sp>
            <p:nvSpPr>
              <p:cNvPr id="68" name="Rectangle: Rounded Corners 67">
                <a:extLst>
                  <a:ext uri="{FF2B5EF4-FFF2-40B4-BE49-F238E27FC236}">
                    <a16:creationId xmlns:a16="http://schemas.microsoft.com/office/drawing/2014/main" id="{37AA2FD5-86F3-DF9D-0579-39C4EE620DC3}"/>
                  </a:ext>
                </a:extLst>
              </p:cNvPr>
              <p:cNvSpPr/>
              <p:nvPr/>
            </p:nvSpPr>
            <p:spPr>
              <a:xfrm>
                <a:off x="215661" y="1319842"/>
                <a:ext cx="3774057" cy="1820173"/>
              </a:xfrm>
              <a:prstGeom prst="roundRect">
                <a:avLst/>
              </a:prstGeom>
              <a:solidFill>
                <a:srgbClr val="1C1033"/>
              </a:solidFill>
              <a:ln>
                <a:solidFill>
                  <a:srgbClr val="1C10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U"/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598F7B64-ADD4-32B7-7097-03279891A895}"/>
                  </a:ext>
                </a:extLst>
              </p:cNvPr>
              <p:cNvSpPr txBox="1"/>
              <p:nvPr/>
            </p:nvSpPr>
            <p:spPr>
              <a:xfrm>
                <a:off x="333195" y="1493523"/>
                <a:ext cx="353898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b="1" dirty="0">
                    <a:solidFill>
                      <a:srgbClr val="42C29A"/>
                    </a:solidFill>
                    <a:latin typeface="Segoe UI" panose="020B0502040204020203" pitchFamily="34" charset="0"/>
                  </a:rPr>
                  <a:t>Tâche 22 – Pipeline CD</a:t>
                </a:r>
                <a:endParaRPr lang="en-MU" sz="1600" dirty="0">
                  <a:solidFill>
                    <a:srgbClr val="42C29A"/>
                  </a:solidFill>
                </a:endParaRP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248E434B-91D5-ED8E-7B17-ECBB26DFACED}"/>
                  </a:ext>
                </a:extLst>
              </p:cNvPr>
              <p:cNvSpPr txBox="1"/>
              <p:nvPr/>
            </p:nvSpPr>
            <p:spPr>
              <a:xfrm>
                <a:off x="274966" y="2062909"/>
                <a:ext cx="35389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Ajouter l'étape CD qui pousse l'image vers Docker Hub après merge sur main</a:t>
                </a: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426C325D-E0AD-750F-E6A5-4CD5F5CAE93C}"/>
                  </a:ext>
                </a:extLst>
              </p:cNvPr>
              <p:cNvSpPr txBox="1"/>
              <p:nvPr/>
            </p:nvSpPr>
            <p:spPr>
              <a:xfrm>
                <a:off x="634043" y="2693850"/>
                <a:ext cx="141041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400" b="1" dirty="0">
                    <a:solidFill>
                      <a:srgbClr val="FF8C69"/>
                    </a:solidFill>
                    <a:latin typeface="Segoe UI" panose="020B0502040204020203" pitchFamily="34" charset="0"/>
                  </a:rPr>
                  <a:t>Anne-Sophie</a:t>
                </a:r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F7290450-26DC-C10C-01DB-292E494C73DE}"/>
                </a:ext>
              </a:extLst>
            </p:cNvPr>
            <p:cNvGrpSpPr/>
            <p:nvPr/>
          </p:nvGrpSpPr>
          <p:grpSpPr>
            <a:xfrm>
              <a:off x="8199405" y="1313624"/>
              <a:ext cx="3774057" cy="1820173"/>
              <a:chOff x="215661" y="1319842"/>
              <a:chExt cx="3774057" cy="1820173"/>
            </a:xfrm>
          </p:grpSpPr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A09AD139-FCA6-EB19-E448-84BE5F529B56}"/>
                  </a:ext>
                </a:extLst>
              </p:cNvPr>
              <p:cNvSpPr/>
              <p:nvPr/>
            </p:nvSpPr>
            <p:spPr>
              <a:xfrm>
                <a:off x="215661" y="1319842"/>
                <a:ext cx="3774057" cy="1820173"/>
              </a:xfrm>
              <a:prstGeom prst="roundRect">
                <a:avLst/>
              </a:prstGeom>
              <a:solidFill>
                <a:srgbClr val="1C1033"/>
              </a:solidFill>
              <a:ln>
                <a:solidFill>
                  <a:srgbClr val="1C10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U"/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B7EB53C5-6C03-BD54-738B-000F196D2DAF}"/>
                  </a:ext>
                </a:extLst>
              </p:cNvPr>
              <p:cNvSpPr txBox="1"/>
              <p:nvPr/>
            </p:nvSpPr>
            <p:spPr>
              <a:xfrm>
                <a:off x="215661" y="1493523"/>
                <a:ext cx="377405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b="1" dirty="0">
                    <a:solidFill>
                      <a:srgbClr val="42C29A"/>
                    </a:solidFill>
                    <a:latin typeface="Segoe UI" panose="020B0502040204020203" pitchFamily="34" charset="0"/>
                  </a:rPr>
                  <a:t>Tâche 23 - Vérifier pipeline vert</a:t>
                </a:r>
                <a:endParaRPr lang="en-MU" sz="1600" dirty="0">
                  <a:solidFill>
                    <a:srgbClr val="42C29A"/>
                  </a:solidFill>
                </a:endParaRP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63EB9665-73E8-C275-3CCC-164E6ADE6194}"/>
                  </a:ext>
                </a:extLst>
              </p:cNvPr>
              <p:cNvSpPr txBox="1"/>
              <p:nvPr/>
            </p:nvSpPr>
            <p:spPr>
              <a:xfrm>
                <a:off x="274967" y="1906762"/>
                <a:ext cx="35389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Vérifier que le pipeline CI est vert sur dev et main, faire la capture d'écran Docker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0D0DAF1-0075-325C-78C4-69A3C1517BD6}"/>
                  </a:ext>
                </a:extLst>
              </p:cNvPr>
              <p:cNvSpPr txBox="1"/>
              <p:nvPr/>
            </p:nvSpPr>
            <p:spPr>
              <a:xfrm>
                <a:off x="634042" y="2693850"/>
                <a:ext cx="235501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400" b="1" dirty="0" err="1">
                    <a:solidFill>
                      <a:srgbClr val="FF8C69"/>
                    </a:solidFill>
                    <a:latin typeface="Segoe UI" panose="020B0502040204020203" pitchFamily="34" charset="0"/>
                  </a:rPr>
                  <a:t>Thouaibat</a:t>
                </a:r>
                <a:r>
                  <a:rPr lang="fr-FR" sz="1400" b="1" dirty="0">
                    <a:solidFill>
                      <a:srgbClr val="FF8C69"/>
                    </a:solidFill>
                    <a:latin typeface="Segoe UI" panose="020B0502040204020203" pitchFamily="34" charset="0"/>
                  </a:rPr>
                  <a:t> + Anne-Sophie 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003256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F8040-9794-A9DC-85EC-DBB49CDB4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0914D64-975C-D539-7F01-39B1AAC5DE29}"/>
              </a:ext>
            </a:extLst>
          </p:cNvPr>
          <p:cNvSpPr/>
          <p:nvPr/>
        </p:nvSpPr>
        <p:spPr>
          <a:xfrm>
            <a:off x="-1438" y="-31041"/>
            <a:ext cx="12192000" cy="612000"/>
          </a:xfrm>
          <a:prstGeom prst="rect">
            <a:avLst/>
          </a:prstGeom>
          <a:solidFill>
            <a:srgbClr val="1C1033"/>
          </a:solidFill>
          <a:ln>
            <a:solidFill>
              <a:srgbClr val="1C10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6FFEBF-740F-421C-F39A-2CD4D7F8DC5A}"/>
              </a:ext>
            </a:extLst>
          </p:cNvPr>
          <p:cNvSpPr txBox="1"/>
          <p:nvPr/>
        </p:nvSpPr>
        <p:spPr>
          <a:xfrm>
            <a:off x="215661" y="90293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Skill</a:t>
            </a:r>
            <a:r>
              <a:rPr lang="fr-FR" b="1" i="0" dirty="0">
                <a:solidFill>
                  <a:srgbClr val="FF8C69"/>
                </a:solidFill>
                <a:effectLst/>
                <a:latin typeface="Segoe UI" panose="020B0502040204020203" pitchFamily="34" charset="0"/>
              </a:rPr>
              <a:t>Hub V2</a:t>
            </a:r>
            <a:endParaRPr lang="en-M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0F397D-ED25-F634-7756-0FC2DF9B1DE1}"/>
              </a:ext>
            </a:extLst>
          </p:cNvPr>
          <p:cNvSpPr txBox="1"/>
          <p:nvPr/>
        </p:nvSpPr>
        <p:spPr>
          <a:xfrm>
            <a:off x="3262941" y="44126"/>
            <a:ext cx="56632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b="1" dirty="0">
                <a:solidFill>
                  <a:srgbClr val="FFFFFF"/>
                </a:solidFill>
                <a:latin typeface="Segoe UI" panose="020B0502040204020203" pitchFamily="34" charset="0"/>
              </a:rPr>
              <a:t>Jour 4 – </a:t>
            </a:r>
            <a:r>
              <a:rPr lang="fr-FR" sz="2400" b="1" dirty="0">
                <a:solidFill>
                  <a:srgbClr val="42C29A"/>
                </a:solidFill>
                <a:latin typeface="Segoe UI" panose="020B0502040204020203" pitchFamily="34" charset="0"/>
              </a:rPr>
              <a:t>CI/CD et </a:t>
            </a:r>
            <a:r>
              <a:rPr lang="fr-FR" sz="2400" b="1" dirty="0" err="1">
                <a:solidFill>
                  <a:srgbClr val="42C29A"/>
                </a:solidFill>
                <a:latin typeface="Segoe UI" panose="020B0502040204020203" pitchFamily="34" charset="0"/>
              </a:rPr>
              <a:t>SonarCloud</a:t>
            </a:r>
            <a:endParaRPr lang="en-MU" sz="2400" dirty="0">
              <a:solidFill>
                <a:srgbClr val="42C29A"/>
              </a:solidFill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890E931-7273-3B53-5537-586784512621}"/>
              </a:ext>
            </a:extLst>
          </p:cNvPr>
          <p:cNvGrpSpPr/>
          <p:nvPr/>
        </p:nvGrpSpPr>
        <p:grpSpPr>
          <a:xfrm>
            <a:off x="215657" y="1396817"/>
            <a:ext cx="11757801" cy="1826391"/>
            <a:chOff x="215661" y="1313624"/>
            <a:chExt cx="11757801" cy="1826391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85F38E02-3C2E-6155-01AE-A258706FEA04}"/>
                </a:ext>
              </a:extLst>
            </p:cNvPr>
            <p:cNvGrpSpPr/>
            <p:nvPr/>
          </p:nvGrpSpPr>
          <p:grpSpPr>
            <a:xfrm>
              <a:off x="215661" y="1319842"/>
              <a:ext cx="3774057" cy="1820173"/>
              <a:chOff x="215661" y="1319842"/>
              <a:chExt cx="3774057" cy="1820173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26F04EAD-14C3-B3B9-E902-DC34965812C9}"/>
                  </a:ext>
                </a:extLst>
              </p:cNvPr>
              <p:cNvSpPr/>
              <p:nvPr/>
            </p:nvSpPr>
            <p:spPr>
              <a:xfrm>
                <a:off x="215661" y="1319842"/>
                <a:ext cx="3774057" cy="1820173"/>
              </a:xfrm>
              <a:prstGeom prst="roundRect">
                <a:avLst/>
              </a:prstGeom>
              <a:solidFill>
                <a:srgbClr val="1C1033"/>
              </a:solidFill>
              <a:ln>
                <a:solidFill>
                  <a:srgbClr val="1C10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U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009B4A2-5709-3449-E24F-C056958CE9E9}"/>
                  </a:ext>
                </a:extLst>
              </p:cNvPr>
              <p:cNvSpPr txBox="1"/>
              <p:nvPr/>
            </p:nvSpPr>
            <p:spPr>
              <a:xfrm>
                <a:off x="333195" y="1493523"/>
                <a:ext cx="3538987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b="1" dirty="0">
                    <a:solidFill>
                      <a:srgbClr val="42C29A"/>
                    </a:solidFill>
                    <a:latin typeface="Segoe UI" panose="020B0502040204020203" pitchFamily="34" charset="0"/>
                  </a:rPr>
                  <a:t>Tâche 24 – Rédiger le rapport cloud</a:t>
                </a:r>
                <a:endParaRPr lang="en-MU" sz="1600" dirty="0">
                  <a:solidFill>
                    <a:srgbClr val="42C29A"/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1DF087C-1264-7AC5-D963-7FAAD236F9AC}"/>
                  </a:ext>
                </a:extLst>
              </p:cNvPr>
              <p:cNvSpPr txBox="1"/>
              <p:nvPr/>
            </p:nvSpPr>
            <p:spPr>
              <a:xfrm>
                <a:off x="274966" y="2039769"/>
                <a:ext cx="3538987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Présentation SkillHub, architecture, comparaison </a:t>
                </a:r>
                <a:r>
                  <a:rPr lang="fr-FR" sz="1200" b="1" dirty="0" err="1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OVHcloud</a:t>
                </a: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 vs AWS, 7 domaines </a:t>
                </a:r>
                <a:r>
                  <a:rPr lang="fr-FR" sz="1200" b="1" dirty="0" err="1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Zero</a:t>
                </a: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 Trust, plan de sécurité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B026BAB-BD8C-2FC2-C06B-C5F39D89F901}"/>
                  </a:ext>
                </a:extLst>
              </p:cNvPr>
              <p:cNvSpPr txBox="1"/>
              <p:nvPr/>
            </p:nvSpPr>
            <p:spPr>
              <a:xfrm>
                <a:off x="634043" y="2693850"/>
                <a:ext cx="141041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400" b="1" dirty="0">
                    <a:solidFill>
                      <a:srgbClr val="FF8C69"/>
                    </a:solidFill>
                    <a:latin typeface="Segoe UI" panose="020B0502040204020203" pitchFamily="34" charset="0"/>
                  </a:rPr>
                  <a:t>El-</a:t>
                </a:r>
                <a:r>
                  <a:rPr lang="fr-FR" sz="1400" b="1" dirty="0" err="1">
                    <a:solidFill>
                      <a:srgbClr val="FF8C69"/>
                    </a:solidFill>
                    <a:latin typeface="Segoe UI" panose="020B0502040204020203" pitchFamily="34" charset="0"/>
                  </a:rPr>
                  <a:t>Fayed</a:t>
                </a:r>
                <a:endParaRPr lang="fr-FR" sz="1400" b="1" dirty="0">
                  <a:solidFill>
                    <a:srgbClr val="FF8C69"/>
                  </a:solidFill>
                  <a:latin typeface="Segoe UI" panose="020B0502040204020203" pitchFamily="34" charset="0"/>
                </a:endParaRPr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D708D845-4E5F-E633-F281-4DF8ABB4BC87}"/>
                </a:ext>
              </a:extLst>
            </p:cNvPr>
            <p:cNvGrpSpPr/>
            <p:nvPr/>
          </p:nvGrpSpPr>
          <p:grpSpPr>
            <a:xfrm>
              <a:off x="4207533" y="1319842"/>
              <a:ext cx="3774057" cy="1820173"/>
              <a:chOff x="215661" y="1319842"/>
              <a:chExt cx="3774057" cy="1820173"/>
            </a:xfrm>
          </p:grpSpPr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9AFF8326-6548-4B6E-7477-BAB8EAF928D0}"/>
                  </a:ext>
                </a:extLst>
              </p:cNvPr>
              <p:cNvSpPr/>
              <p:nvPr/>
            </p:nvSpPr>
            <p:spPr>
              <a:xfrm>
                <a:off x="215661" y="1319842"/>
                <a:ext cx="3774057" cy="1820173"/>
              </a:xfrm>
              <a:prstGeom prst="roundRect">
                <a:avLst/>
              </a:prstGeom>
              <a:solidFill>
                <a:srgbClr val="1C1033"/>
              </a:solidFill>
              <a:ln>
                <a:solidFill>
                  <a:srgbClr val="1C10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U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C111488-5FB2-9AA5-4053-BD068E509351}"/>
                  </a:ext>
                </a:extLst>
              </p:cNvPr>
              <p:cNvSpPr txBox="1"/>
              <p:nvPr/>
            </p:nvSpPr>
            <p:spPr>
              <a:xfrm>
                <a:off x="333195" y="1493523"/>
                <a:ext cx="353898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b="1" dirty="0">
                    <a:solidFill>
                      <a:srgbClr val="42C29A"/>
                    </a:solidFill>
                    <a:latin typeface="Segoe UI" panose="020B0502040204020203" pitchFamily="34" charset="0"/>
                  </a:rPr>
                  <a:t>Tâche 25 – Créer le schéma draw.io</a:t>
                </a:r>
                <a:endParaRPr lang="en-MU" sz="1600" dirty="0">
                  <a:solidFill>
                    <a:srgbClr val="42C29A"/>
                  </a:solidFill>
                </a:endParaRP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8C6086D-D6DB-27AF-F4EF-0835BEF68F08}"/>
                  </a:ext>
                </a:extLst>
              </p:cNvPr>
              <p:cNvSpPr txBox="1"/>
              <p:nvPr/>
            </p:nvSpPr>
            <p:spPr>
              <a:xfrm>
                <a:off x="333195" y="1992877"/>
                <a:ext cx="35389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Schéma avec tous les composants et communications, exporter en PNG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DDE26E2-6C61-129F-F7F4-9B7B8A9DE057}"/>
                  </a:ext>
                </a:extLst>
              </p:cNvPr>
              <p:cNvSpPr txBox="1"/>
              <p:nvPr/>
            </p:nvSpPr>
            <p:spPr>
              <a:xfrm>
                <a:off x="634043" y="2693850"/>
                <a:ext cx="141041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400" b="1" dirty="0">
                    <a:solidFill>
                      <a:srgbClr val="FF8C69"/>
                    </a:solidFill>
                    <a:latin typeface="Segoe UI" panose="020B0502040204020203" pitchFamily="34" charset="0"/>
                  </a:rPr>
                  <a:t>Anne-Sophie</a:t>
                </a:r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982E16F3-4EF8-6573-63DA-F429BB1AAC04}"/>
                </a:ext>
              </a:extLst>
            </p:cNvPr>
            <p:cNvGrpSpPr/>
            <p:nvPr/>
          </p:nvGrpSpPr>
          <p:grpSpPr>
            <a:xfrm>
              <a:off x="8199405" y="1313624"/>
              <a:ext cx="3774057" cy="1820173"/>
              <a:chOff x="215661" y="1319842"/>
              <a:chExt cx="3774057" cy="1820173"/>
            </a:xfrm>
          </p:grpSpPr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747953CE-E609-0A2C-12E0-4AF90060247F}"/>
                  </a:ext>
                </a:extLst>
              </p:cNvPr>
              <p:cNvSpPr/>
              <p:nvPr/>
            </p:nvSpPr>
            <p:spPr>
              <a:xfrm>
                <a:off x="215661" y="1319842"/>
                <a:ext cx="3774057" cy="1820173"/>
              </a:xfrm>
              <a:prstGeom prst="roundRect">
                <a:avLst/>
              </a:prstGeom>
              <a:solidFill>
                <a:srgbClr val="1C1033"/>
              </a:solidFill>
              <a:ln>
                <a:solidFill>
                  <a:srgbClr val="1C10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U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5969798-B351-00C9-E18C-CCC507FCAE81}"/>
                  </a:ext>
                </a:extLst>
              </p:cNvPr>
              <p:cNvSpPr txBox="1"/>
              <p:nvPr/>
            </p:nvSpPr>
            <p:spPr>
              <a:xfrm>
                <a:off x="333195" y="1493523"/>
                <a:ext cx="353898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b="1" dirty="0">
                    <a:solidFill>
                      <a:srgbClr val="42C29A"/>
                    </a:solidFill>
                    <a:latin typeface="Segoe UI" panose="020B0502040204020203" pitchFamily="34" charset="0"/>
                  </a:rPr>
                  <a:t>Tâche 26 – Écrire le README.md</a:t>
                </a:r>
                <a:endParaRPr lang="en-MU" sz="1600" dirty="0">
                  <a:solidFill>
                    <a:srgbClr val="42C29A"/>
                  </a:solidFill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1957D93-8D22-D40B-5B6F-E8EC8675BE10}"/>
                  </a:ext>
                </a:extLst>
              </p:cNvPr>
              <p:cNvSpPr txBox="1"/>
              <p:nvPr/>
            </p:nvSpPr>
            <p:spPr>
              <a:xfrm>
                <a:off x="274967" y="2007681"/>
                <a:ext cx="35389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Prérequis, docker compose up --</a:t>
                </a:r>
                <a:r>
                  <a:rPr lang="fr-FR" sz="1200" b="1" dirty="0" err="1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build</a:t>
                </a: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, </a:t>
                </a:r>
                <a:r>
                  <a:rPr lang="fr-FR" sz="1200" b="1" dirty="0" err="1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php</a:t>
                </a: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 artisan test, structure des dossiers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8194152-AB02-9FFA-B5D3-FC658E12E4EE}"/>
                  </a:ext>
                </a:extLst>
              </p:cNvPr>
              <p:cNvSpPr txBox="1"/>
              <p:nvPr/>
            </p:nvSpPr>
            <p:spPr>
              <a:xfrm>
                <a:off x="634043" y="2693850"/>
                <a:ext cx="141041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400" b="1">
                    <a:solidFill>
                      <a:srgbClr val="FF8C69"/>
                    </a:solidFill>
                    <a:latin typeface="Segoe UI" panose="020B0502040204020203" pitchFamily="34" charset="0"/>
                  </a:rPr>
                  <a:t>Thouaibat</a:t>
                </a:r>
                <a:endParaRPr lang="fr-FR" sz="1400" b="1" dirty="0">
                  <a:solidFill>
                    <a:srgbClr val="FF8C69"/>
                  </a:solidFill>
                  <a:latin typeface="Segoe UI" panose="020B0502040204020203" pitchFamily="34" charset="0"/>
                </a:endParaRPr>
              </a:p>
            </p:txBody>
          </p:sp>
        </p:grp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FE525F6-2DEA-7C1D-E8B0-BDADFB17B303}"/>
              </a:ext>
            </a:extLst>
          </p:cNvPr>
          <p:cNvGrpSpPr/>
          <p:nvPr/>
        </p:nvGrpSpPr>
        <p:grpSpPr>
          <a:xfrm>
            <a:off x="215657" y="3628574"/>
            <a:ext cx="11757801" cy="1826391"/>
            <a:chOff x="215661" y="1313624"/>
            <a:chExt cx="11757801" cy="1826391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3BD09D6-FCD9-816C-129D-E2E546D043EB}"/>
                </a:ext>
              </a:extLst>
            </p:cNvPr>
            <p:cNvGrpSpPr/>
            <p:nvPr/>
          </p:nvGrpSpPr>
          <p:grpSpPr>
            <a:xfrm>
              <a:off x="215661" y="1319842"/>
              <a:ext cx="3774057" cy="1820173"/>
              <a:chOff x="215661" y="1319842"/>
              <a:chExt cx="3774057" cy="1820173"/>
            </a:xfrm>
          </p:grpSpPr>
          <p:sp>
            <p:nvSpPr>
              <p:cNvPr id="72" name="Rectangle: Rounded Corners 71">
                <a:extLst>
                  <a:ext uri="{FF2B5EF4-FFF2-40B4-BE49-F238E27FC236}">
                    <a16:creationId xmlns:a16="http://schemas.microsoft.com/office/drawing/2014/main" id="{C534ECC4-6597-F2BC-EE66-216DA0198F0F}"/>
                  </a:ext>
                </a:extLst>
              </p:cNvPr>
              <p:cNvSpPr/>
              <p:nvPr/>
            </p:nvSpPr>
            <p:spPr>
              <a:xfrm>
                <a:off x="215661" y="1319842"/>
                <a:ext cx="3774057" cy="1820173"/>
              </a:xfrm>
              <a:prstGeom prst="roundRect">
                <a:avLst/>
              </a:prstGeom>
              <a:solidFill>
                <a:srgbClr val="1C1033"/>
              </a:solidFill>
              <a:ln>
                <a:solidFill>
                  <a:srgbClr val="1C10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U"/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54A949FB-2436-E32A-C95F-EF2CAA75AF64}"/>
                  </a:ext>
                </a:extLst>
              </p:cNvPr>
              <p:cNvSpPr txBox="1"/>
              <p:nvPr/>
            </p:nvSpPr>
            <p:spPr>
              <a:xfrm>
                <a:off x="333195" y="1493523"/>
                <a:ext cx="3538987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b="1" dirty="0">
                    <a:solidFill>
                      <a:srgbClr val="42C29A"/>
                    </a:solidFill>
                    <a:latin typeface="Segoe UI" panose="020B0502040204020203" pitchFamily="34" charset="0"/>
                  </a:rPr>
                  <a:t>Tâche 27 – Corrections finales </a:t>
                </a:r>
                <a:r>
                  <a:rPr lang="fr-FR" sz="1600" b="1" dirty="0" err="1">
                    <a:solidFill>
                      <a:srgbClr val="42C29A"/>
                    </a:solidFill>
                    <a:latin typeface="Segoe UI" panose="020B0502040204020203" pitchFamily="34" charset="0"/>
                  </a:rPr>
                  <a:t>Laravel</a:t>
                </a:r>
                <a:endParaRPr lang="en-MU" sz="1600" dirty="0">
                  <a:solidFill>
                    <a:srgbClr val="42C29A"/>
                  </a:solidFill>
                </a:endParaRP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644AD9B0-67D7-FA08-4158-38B3DE5ECB2C}"/>
                  </a:ext>
                </a:extLst>
              </p:cNvPr>
              <p:cNvSpPr txBox="1"/>
              <p:nvPr/>
            </p:nvSpPr>
            <p:spPr>
              <a:xfrm>
                <a:off x="274966" y="1992877"/>
                <a:ext cx="35389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Corriger les derniers bugs si besoin, vérifier que ses </a:t>
                </a:r>
                <a:r>
                  <a:rPr lang="fr-FR" sz="1200" b="1" dirty="0" err="1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commits</a:t>
                </a: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 sont dans git log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0578A744-F8B8-391B-072D-44E2742B0360}"/>
                  </a:ext>
                </a:extLst>
              </p:cNvPr>
              <p:cNvSpPr txBox="1"/>
              <p:nvPr/>
            </p:nvSpPr>
            <p:spPr>
              <a:xfrm>
                <a:off x="634043" y="2693850"/>
                <a:ext cx="141041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400" b="1" dirty="0">
                    <a:solidFill>
                      <a:srgbClr val="FF8C69"/>
                    </a:solidFill>
                    <a:latin typeface="Segoe UI" panose="020B0502040204020203" pitchFamily="34" charset="0"/>
                  </a:rPr>
                  <a:t>El-</a:t>
                </a:r>
                <a:r>
                  <a:rPr lang="fr-FR" sz="1400" b="1" dirty="0" err="1">
                    <a:solidFill>
                      <a:srgbClr val="FF8C69"/>
                    </a:solidFill>
                    <a:latin typeface="Segoe UI" panose="020B0502040204020203" pitchFamily="34" charset="0"/>
                  </a:rPr>
                  <a:t>Fayed</a:t>
                </a:r>
                <a:endParaRPr lang="fr-FR" sz="1400" b="1" dirty="0">
                  <a:solidFill>
                    <a:srgbClr val="FF8C69"/>
                  </a:solidFill>
                  <a:latin typeface="Segoe UI" panose="020B0502040204020203" pitchFamily="34" charset="0"/>
                </a:endParaRPr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FA950F84-D7AC-86C5-71AD-CC86E7B596FB}"/>
                </a:ext>
              </a:extLst>
            </p:cNvPr>
            <p:cNvGrpSpPr/>
            <p:nvPr/>
          </p:nvGrpSpPr>
          <p:grpSpPr>
            <a:xfrm>
              <a:off x="4207533" y="1319842"/>
              <a:ext cx="3774057" cy="1820173"/>
              <a:chOff x="215661" y="1319842"/>
              <a:chExt cx="3774057" cy="1820173"/>
            </a:xfrm>
          </p:grpSpPr>
          <p:sp>
            <p:nvSpPr>
              <p:cNvPr id="68" name="Rectangle: Rounded Corners 67">
                <a:extLst>
                  <a:ext uri="{FF2B5EF4-FFF2-40B4-BE49-F238E27FC236}">
                    <a16:creationId xmlns:a16="http://schemas.microsoft.com/office/drawing/2014/main" id="{A097A1AE-E3C5-BE1A-06B1-069D0001A9AA}"/>
                  </a:ext>
                </a:extLst>
              </p:cNvPr>
              <p:cNvSpPr/>
              <p:nvPr/>
            </p:nvSpPr>
            <p:spPr>
              <a:xfrm>
                <a:off x="215661" y="1319842"/>
                <a:ext cx="3774057" cy="1820173"/>
              </a:xfrm>
              <a:prstGeom prst="roundRect">
                <a:avLst/>
              </a:prstGeom>
              <a:solidFill>
                <a:srgbClr val="1C1033"/>
              </a:solidFill>
              <a:ln>
                <a:solidFill>
                  <a:srgbClr val="1C10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U"/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DBC06C18-899A-B7B4-0CDD-FEB869063C6A}"/>
                  </a:ext>
                </a:extLst>
              </p:cNvPr>
              <p:cNvSpPr txBox="1"/>
              <p:nvPr/>
            </p:nvSpPr>
            <p:spPr>
              <a:xfrm>
                <a:off x="333195" y="1493523"/>
                <a:ext cx="353898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b="1" dirty="0">
                    <a:solidFill>
                      <a:srgbClr val="42C29A"/>
                    </a:solidFill>
                    <a:latin typeface="Segoe UI" panose="020B0502040204020203" pitchFamily="34" charset="0"/>
                  </a:rPr>
                  <a:t>Tâche 28 – Pipeline CD</a:t>
                </a:r>
                <a:endParaRPr lang="en-MU" sz="1600" dirty="0">
                  <a:solidFill>
                    <a:srgbClr val="42C29A"/>
                  </a:solidFill>
                </a:endParaRP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21761BD-D8DB-1600-982E-74F648219B04}"/>
                  </a:ext>
                </a:extLst>
              </p:cNvPr>
              <p:cNvSpPr txBox="1"/>
              <p:nvPr/>
            </p:nvSpPr>
            <p:spPr>
              <a:xfrm>
                <a:off x="274966" y="2062909"/>
                <a:ext cx="3538987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docker compose up --</a:t>
                </a:r>
                <a:r>
                  <a:rPr lang="fr-FR" sz="1200" b="1" dirty="0" err="1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build</a:t>
                </a:r>
                <a:r>
                  <a:rPr lang="fr-FR" sz="1200" b="1" dirty="0">
                    <a:solidFill>
                      <a:srgbClr val="FFFFFF"/>
                    </a:solidFill>
                    <a:latin typeface="Segoe UI" panose="020B0502040204020203" pitchFamily="34" charset="0"/>
                  </a:rPr>
                  <a:t> depuis un clone propre, vérifier 3 auteurs dans git log, créer tag v2.0.0</a:t>
                </a: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2E2C5488-6B0B-9BEF-BA70-5034067856EE}"/>
                  </a:ext>
                </a:extLst>
              </p:cNvPr>
              <p:cNvSpPr txBox="1"/>
              <p:nvPr/>
            </p:nvSpPr>
            <p:spPr>
              <a:xfrm>
                <a:off x="634043" y="2693850"/>
                <a:ext cx="141041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400" b="1" dirty="0">
                    <a:solidFill>
                      <a:srgbClr val="FF8C69"/>
                    </a:solidFill>
                    <a:latin typeface="Segoe UI" panose="020B0502040204020203" pitchFamily="34" charset="0"/>
                  </a:rPr>
                  <a:t>Tout le monde</a:t>
                </a:r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28AFE34D-7A9F-5AC1-F631-32AF0ADCE8A8}"/>
                </a:ext>
              </a:extLst>
            </p:cNvPr>
            <p:cNvGrpSpPr/>
            <p:nvPr/>
          </p:nvGrpSpPr>
          <p:grpSpPr>
            <a:xfrm>
              <a:off x="8199405" y="1313624"/>
              <a:ext cx="3774057" cy="1820173"/>
              <a:chOff x="215661" y="1319842"/>
              <a:chExt cx="3774057" cy="1820173"/>
            </a:xfrm>
          </p:grpSpPr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F065D32E-C4B8-C79B-423E-94642EE9AAF3}"/>
                  </a:ext>
                </a:extLst>
              </p:cNvPr>
              <p:cNvSpPr/>
              <p:nvPr/>
            </p:nvSpPr>
            <p:spPr>
              <a:xfrm>
                <a:off x="215661" y="1319842"/>
                <a:ext cx="3774057" cy="1820173"/>
              </a:xfrm>
              <a:prstGeom prst="roundRect">
                <a:avLst/>
              </a:prstGeom>
              <a:solidFill>
                <a:srgbClr val="1C1033"/>
              </a:solidFill>
              <a:ln>
                <a:solidFill>
                  <a:srgbClr val="1C10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U"/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1A49C018-C756-0FAA-0D19-757EE9684E5D}"/>
                  </a:ext>
                </a:extLst>
              </p:cNvPr>
              <p:cNvSpPr txBox="1"/>
              <p:nvPr/>
            </p:nvSpPr>
            <p:spPr>
              <a:xfrm>
                <a:off x="215661" y="1493523"/>
                <a:ext cx="377405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b="1" dirty="0">
                    <a:solidFill>
                      <a:srgbClr val="42C29A"/>
                    </a:solidFill>
                    <a:latin typeface="Segoe UI" panose="020B0502040204020203" pitchFamily="34" charset="0"/>
                  </a:rPr>
                  <a:t>Fin projet</a:t>
                </a:r>
                <a:endParaRPr lang="en-MU" sz="1600" dirty="0">
                  <a:solidFill>
                    <a:srgbClr val="42C29A"/>
                  </a:solidFill>
                </a:endParaRPr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ABA3F49-EE6B-051A-C065-BE2A0D756D58}"/>
              </a:ext>
            </a:extLst>
          </p:cNvPr>
          <p:cNvSpPr txBox="1"/>
          <p:nvPr/>
        </p:nvSpPr>
        <p:spPr>
          <a:xfrm>
            <a:off x="8340663" y="4377859"/>
            <a:ext cx="353898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b="1" dirty="0">
                <a:solidFill>
                  <a:srgbClr val="FFFFFF"/>
                </a:solidFill>
                <a:latin typeface="Segoe UI" panose="020B0502040204020203" pitchFamily="34" charset="0"/>
              </a:rPr>
              <a:t>On a fini le projet </a:t>
            </a:r>
            <a:r>
              <a:rPr lang="fr-FR" sz="2400" b="1" dirty="0">
                <a:solidFill>
                  <a:srgbClr val="FF8C69"/>
                </a:solidFill>
                <a:latin typeface="Segoe UI" panose="020B0502040204020203" pitchFamily="34" charset="0"/>
              </a:rPr>
              <a:t>Bravo !!</a:t>
            </a:r>
          </a:p>
        </p:txBody>
      </p:sp>
    </p:spTree>
    <p:extLst>
      <p:ext uri="{BB962C8B-B14F-4D97-AF65-F5344CB8AC3E}">
        <p14:creationId xmlns:p14="http://schemas.microsoft.com/office/powerpoint/2010/main" val="2907401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741</Words>
  <Application>Microsoft Office PowerPoint</Application>
  <PresentationFormat>Grand écran</PresentationFormat>
  <Paragraphs>102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Segoe UI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Anne-Sophie Montenot</dc:creator>
  <cp:lastModifiedBy>SELIM Thouaibat</cp:lastModifiedBy>
  <cp:revision>2</cp:revision>
  <dcterms:created xsi:type="dcterms:W3CDTF">2026-04-17T07:11:29Z</dcterms:created>
  <dcterms:modified xsi:type="dcterms:W3CDTF">2026-04-17T11:58:14Z</dcterms:modified>
</cp:coreProperties>
</file>